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70" r:id="rId2"/>
  </p:sldMasterIdLst>
  <p:notesMasterIdLst>
    <p:notesMasterId r:id="rId35"/>
  </p:notesMasterIdLst>
  <p:sldIdLst>
    <p:sldId id="29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9" r:id="rId17"/>
    <p:sldId id="271" r:id="rId18"/>
    <p:sldId id="272" r:id="rId19"/>
    <p:sldId id="273" r:id="rId20"/>
    <p:sldId id="275" r:id="rId21"/>
    <p:sldId id="274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8" r:id="rId30"/>
    <p:sldId id="284" r:id="rId31"/>
    <p:sldId id="285" r:id="rId32"/>
    <p:sldId id="286" r:id="rId33"/>
    <p:sldId id="287" r:id="rId3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Encode Sans Semi Condensed" panose="020B0604020202020204" charset="0"/>
      <p:regular r:id="rId40"/>
      <p:bold r:id="rId41"/>
    </p:embeddedFont>
    <p:embeddedFont>
      <p:font typeface="Inter" panose="020B0604020202020204" charset="0"/>
      <p:regular r:id="rId42"/>
      <p:bold r:id="rId43"/>
      <p:italic r:id="rId44"/>
      <p:boldItalic r:id="rId45"/>
    </p:embeddedFont>
    <p:embeddedFont>
      <p:font typeface="Josefin Sans" pitchFamily="2" charset="0"/>
      <p:regular r:id="rId46"/>
      <p:bold r:id="rId47"/>
      <p:italic r:id="rId48"/>
      <p:boldItalic r:id="rId49"/>
    </p:embeddedFont>
    <p:embeddedFont>
      <p:font typeface="Manrope" panose="020B0604020202020204" charset="0"/>
      <p:regular r:id="rId50"/>
      <p:bold r:id="rId51"/>
    </p:embeddedFont>
    <p:embeddedFont>
      <p:font typeface="Manrope Medium" panose="020B0604020202020204" charset="0"/>
      <p:regular r:id="rId52"/>
      <p:bold r:id="rId53"/>
    </p:embeddedFont>
    <p:embeddedFont>
      <p:font typeface="Manrope SemiBold" panose="020B0604020202020204" charset="0"/>
      <p:regular r:id="rId54"/>
      <p:bold r:id="rId55"/>
    </p:embeddedFont>
    <p:embeddedFont>
      <p:font typeface="Montserrat" panose="00000500000000000000" pitchFamily="2" charset="0"/>
      <p:regular r:id="rId56"/>
      <p:bold r:id="rId57"/>
      <p:italic r:id="rId58"/>
      <p:boldItalic r:id="rId59"/>
    </p:embeddedFont>
    <p:embeddedFont>
      <p:font typeface="Open Sans" panose="020B0606030504020204" pitchFamily="34" charset="0"/>
      <p:regular r:id="rId60"/>
      <p:bold r:id="rId61"/>
      <p:italic r:id="rId62"/>
      <p:boldItalic r:id="rId63"/>
    </p:embeddedFont>
    <p:embeddedFont>
      <p:font typeface="Quattrocento Sans" panose="020B0502050000020003" pitchFamily="34" charset="0"/>
      <p:regular r:id="rId64"/>
    </p:embeddedFont>
    <p:embeddedFont>
      <p:font typeface="Roboto" panose="02000000000000000000" pitchFamily="2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1" roundtripDataSignature="AMtx7mjjhXanT0nRrXQonREYs4O4j4yP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8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BFF000-192F-4C3E-98A5-115FF38F1E45}">
  <a:tblStyle styleId="{E6BFF000-192F-4C3E-98A5-115FF38F1E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47BB4CE-655F-4548-BEC3-27E96CD3876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EBF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49F9FD0-1714-4D6C-8942-DF13B7125804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63" Type="http://schemas.openxmlformats.org/officeDocument/2006/relationships/font" Target="fonts/font28.fntdata"/><Relationship Id="rId68" Type="http://schemas.openxmlformats.org/officeDocument/2006/relationships/font" Target="fonts/font3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font" Target="fonts/font23.fntdata"/><Relationship Id="rId66" Type="http://schemas.openxmlformats.org/officeDocument/2006/relationships/font" Target="fonts/font31.fntdata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font" Target="fonts/font26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font" Target="fonts/font21.fntdata"/><Relationship Id="rId64" Type="http://schemas.openxmlformats.org/officeDocument/2006/relationships/font" Target="fonts/font29.fntdata"/><Relationship Id="rId8" Type="http://schemas.openxmlformats.org/officeDocument/2006/relationships/slide" Target="slides/slide6.xml"/><Relationship Id="rId51" Type="http://schemas.openxmlformats.org/officeDocument/2006/relationships/font" Target="fonts/font16.fntdata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59" Type="http://schemas.openxmlformats.org/officeDocument/2006/relationships/font" Target="fonts/font24.fntdata"/><Relationship Id="rId67" Type="http://schemas.openxmlformats.org/officeDocument/2006/relationships/font" Target="fonts/font32.fntdata"/><Relationship Id="rId20" Type="http://schemas.openxmlformats.org/officeDocument/2006/relationships/slide" Target="slides/slide18.xml"/><Relationship Id="rId41" Type="http://schemas.openxmlformats.org/officeDocument/2006/relationships/font" Target="fonts/font6.fntdata"/><Relationship Id="rId54" Type="http://schemas.openxmlformats.org/officeDocument/2006/relationships/font" Target="fonts/font19.fntdata"/><Relationship Id="rId62" Type="http://schemas.openxmlformats.org/officeDocument/2006/relationships/font" Target="fonts/font27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font" Target="fonts/font22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60" Type="http://schemas.openxmlformats.org/officeDocument/2006/relationships/font" Target="fonts/font25.fntdata"/><Relationship Id="rId65" Type="http://schemas.openxmlformats.org/officeDocument/2006/relationships/font" Target="fonts/font30.fntdata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font" Target="fonts/font4.fntdata"/><Relationship Id="rId34" Type="http://schemas.openxmlformats.org/officeDocument/2006/relationships/slide" Target="slides/slide32.xml"/><Relationship Id="rId50" Type="http://schemas.openxmlformats.org/officeDocument/2006/relationships/font" Target="fonts/font15.fntdata"/><Relationship Id="rId55" Type="http://schemas.openxmlformats.org/officeDocument/2006/relationships/font" Target="fonts/font20.fntdata"/><Relationship Id="rId7" Type="http://schemas.openxmlformats.org/officeDocument/2006/relationships/slide" Target="slides/slide5.xml"/><Relationship Id="rId71" Type="http://customschemas.google.com/relationships/presentationmetadata" Target="meta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of Total Cost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73-4981-84A7-84D60AEFDAD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73-4981-84A7-84D60AEFDAD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73-4981-84A7-84D60AEFDAD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C73-4981-84A7-84D60AEFDAD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C73-4981-84A7-84D60AEFDAD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C73-4981-84A7-84D60AEFDAD0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C73-4981-84A7-84D60AEFDAD0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6C73-4981-84A7-84D60AEFDAD0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6C73-4981-84A7-84D60AEFDAD0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6C73-4981-84A7-84D60AEFDAD0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6C73-4981-84A7-84D60AEFDAD0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6C73-4981-84A7-84D60AEFDAD0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6C73-4981-84A7-84D60AEFDAD0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B-6C73-4981-84A7-84D60AEFDAD0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6C73-4981-84A7-84D60AEFDAD0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6C73-4981-84A7-84D60AEFDAD0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6C73-4981-84A7-84D60AEFDAD0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6C73-4981-84A7-84D60AEFDAD0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6C73-4981-84A7-84D60AEFDAD0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7-6C73-4981-84A7-84D60AEFDAD0}"/>
              </c:ext>
            </c:extLst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9-6C73-4981-84A7-84D60AEFDAD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Sheet1!$A$2:$A$22</c:f>
              <c:strCache>
                <c:ptCount val="21"/>
                <c:pt idx="0">
                  <c:v>Soil Investigation</c:v>
                </c:pt>
                <c:pt idx="1">
                  <c:v>Earthwork Excavation</c:v>
                </c:pt>
                <c:pt idx="2">
                  <c:v>Brick Flat Soling</c:v>
                </c:pt>
                <c:pt idx="3">
                  <c:v>RCC Works</c:v>
                </c:pt>
                <c:pt idx="4">
                  <c:v>Concrete Reinforcement</c:v>
                </c:pt>
                <c:pt idx="5">
                  <c:v>Structural Steel</c:v>
                </c:pt>
                <c:pt idx="6">
                  <c:v>Brick Work</c:v>
                </c:pt>
                <c:pt idx="7">
                  <c:v>Door Window Glasswork</c:v>
                </c:pt>
                <c:pt idx="8">
                  <c:v>Plastering</c:v>
                </c:pt>
                <c:pt idx="9">
                  <c:v>Painting</c:v>
                </c:pt>
                <c:pt idx="10">
                  <c:v>Formwork(Steel)</c:v>
                </c:pt>
                <c:pt idx="11">
                  <c:v>Roof Finish</c:v>
                </c:pt>
                <c:pt idx="12">
                  <c:v>Sanitary and water supply works</c:v>
                </c:pt>
                <c:pt idx="13">
                  <c:v>Tiles work</c:v>
                </c:pt>
                <c:pt idx="14">
                  <c:v>False ceiling</c:v>
                </c:pt>
                <c:pt idx="15">
                  <c:v>Fence</c:v>
                </c:pt>
                <c:pt idx="16">
                  <c:v>Gate</c:v>
                </c:pt>
                <c:pt idx="17">
                  <c:v>Safety Net and Scafolding</c:v>
                </c:pt>
                <c:pt idx="18">
                  <c:v>Testing cost</c:v>
                </c:pt>
                <c:pt idx="19">
                  <c:v>Additional cost</c:v>
                </c:pt>
                <c:pt idx="20">
                  <c:v>General, Site facility &amp; Engineering Cost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0.45</c:v>
                </c:pt>
                <c:pt idx="1">
                  <c:v>0.56999999999999995</c:v>
                </c:pt>
                <c:pt idx="2">
                  <c:v>0.46</c:v>
                </c:pt>
                <c:pt idx="3">
                  <c:v>1.76</c:v>
                </c:pt>
                <c:pt idx="4">
                  <c:v>34.56</c:v>
                </c:pt>
                <c:pt idx="5">
                  <c:v>17.170000000000002</c:v>
                </c:pt>
                <c:pt idx="6">
                  <c:v>2.46</c:v>
                </c:pt>
                <c:pt idx="7">
                  <c:v>2.34</c:v>
                </c:pt>
                <c:pt idx="8">
                  <c:v>0.9</c:v>
                </c:pt>
                <c:pt idx="9">
                  <c:v>0.85</c:v>
                </c:pt>
                <c:pt idx="10">
                  <c:v>0.66</c:v>
                </c:pt>
                <c:pt idx="11">
                  <c:v>0.01</c:v>
                </c:pt>
                <c:pt idx="12">
                  <c:v>0.66</c:v>
                </c:pt>
                <c:pt idx="13">
                  <c:v>0.31</c:v>
                </c:pt>
                <c:pt idx="14">
                  <c:v>0.06</c:v>
                </c:pt>
                <c:pt idx="15">
                  <c:v>1.83</c:v>
                </c:pt>
                <c:pt idx="16">
                  <c:v>0.09</c:v>
                </c:pt>
                <c:pt idx="17">
                  <c:v>0.85</c:v>
                </c:pt>
                <c:pt idx="18">
                  <c:v>0.93</c:v>
                </c:pt>
                <c:pt idx="19">
                  <c:v>31.42</c:v>
                </c:pt>
                <c:pt idx="20">
                  <c:v>1.66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B5-4361-B8D7-3C69856A00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8" name="Google Shape;5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2" name="Google Shape;5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2056c7e39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9" name="Google Shape;599;g32056c7e39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7" name="Google Shape;6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9" name="Google Shape;6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6" name="Google Shape;6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7" name="Google Shape;6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4" name="Google Shape;6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1" name="Google Shape;7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6" name="Google Shape;7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0" name="Google Shape;8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0" name="Google Shape;8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0464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9" name="Google Shape;8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2056c7e390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9" name="Google Shape;839;g32056c7e390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7" name="Google Shape;84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5" name="Google Shape;8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8" name="Google Shape;8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9" name="Google Shape;8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2" name="Google Shape;9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8" name="Google Shape;91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0" name="Google Shape;93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5" name="Google Shape;94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7" name="Google Shape;95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1" name="Google Shape;97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1" name="Google Shape;98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14296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7" name="Google Shape;99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8" name="Google Shape;100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4" name="Google Shape;101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2056c7e390_2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2" name="Google Shape;1022;g32056c7e390_2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>
            <a:spLocks noGrp="1"/>
          </p:cNvSpPr>
          <p:nvPr>
            <p:ph type="title"/>
          </p:nvPr>
        </p:nvSpPr>
        <p:spPr>
          <a:xfrm>
            <a:off x="2129125" y="363275"/>
            <a:ext cx="488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 column text 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4"/>
          <p:cNvSpPr txBox="1">
            <a:spLocks noGrp="1"/>
          </p:cNvSpPr>
          <p:nvPr>
            <p:ph type="title"/>
          </p:nvPr>
        </p:nvSpPr>
        <p:spPr>
          <a:xfrm>
            <a:off x="1096050" y="2161625"/>
            <a:ext cx="26241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" name="Google Shape;21;p34"/>
          <p:cNvSpPr txBox="1">
            <a:spLocks noGrp="1"/>
          </p:cNvSpPr>
          <p:nvPr>
            <p:ph type="subTitle" idx="1"/>
          </p:nvPr>
        </p:nvSpPr>
        <p:spPr>
          <a:xfrm>
            <a:off x="1096050" y="2998500"/>
            <a:ext cx="26241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Заголовок и объект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 1">
    <p:bg>
      <p:bgPr>
        <a:solidFill>
          <a:schemeClr val="dk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7"/>
          <p:cNvSpPr txBox="1">
            <a:spLocks noGrp="1"/>
          </p:cNvSpPr>
          <p:nvPr>
            <p:ph type="ctrTitle"/>
          </p:nvPr>
        </p:nvSpPr>
        <p:spPr>
          <a:xfrm>
            <a:off x="4732428" y="308609"/>
            <a:ext cx="411480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 b="1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37"/>
          <p:cNvGrpSpPr/>
          <p:nvPr/>
        </p:nvGrpSpPr>
        <p:grpSpPr>
          <a:xfrm>
            <a:off x="1" y="569064"/>
            <a:ext cx="4574436" cy="4574436"/>
            <a:chOff x="0" y="12289"/>
            <a:chExt cx="3550" cy="3551"/>
          </a:xfrm>
        </p:grpSpPr>
        <p:sp>
          <p:nvSpPr>
            <p:cNvPr id="31" name="Google Shape;31;p3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4" name="Google Shape;34;p37"/>
          <p:cNvCxnSpPr/>
          <p:nvPr/>
        </p:nvCxnSpPr>
        <p:spPr>
          <a:xfrm>
            <a:off x="4732020" y="2962656"/>
            <a:ext cx="1600200" cy="2994"/>
          </a:xfrm>
          <a:prstGeom prst="straightConnector1">
            <a:avLst/>
          </a:prstGeom>
          <a:noFill/>
          <a:ln w="101600" cap="flat" cmpd="sng">
            <a:solidFill>
              <a:srgbClr val="323F4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1">
  <p:cSld name="B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 txBox="1">
            <a:spLocks noGrp="1"/>
          </p:cNvSpPr>
          <p:nvPr>
            <p:ph type="body" idx="1"/>
          </p:nvPr>
        </p:nvSpPr>
        <p:spPr>
          <a:xfrm>
            <a:off x="387820" y="663731"/>
            <a:ext cx="8368363" cy="14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F7F7F"/>
              </a:buClr>
              <a:buSzPts val="788"/>
              <a:buNone/>
              <a:defRPr sz="788" b="0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37" name="Google Shape;37;p38"/>
          <p:cNvSpPr txBox="1">
            <a:spLocks noGrp="1"/>
          </p:cNvSpPr>
          <p:nvPr>
            <p:ph type="title"/>
          </p:nvPr>
        </p:nvSpPr>
        <p:spPr>
          <a:xfrm>
            <a:off x="387820" y="287080"/>
            <a:ext cx="8368363" cy="33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75"/>
              <a:buFont typeface="Montserrat"/>
              <a:buNone/>
              <a:defRPr sz="1575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ing">
  <p:cSld name="Marketing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9"/>
          <p:cNvSpPr txBox="1">
            <a:spLocks noGrp="1"/>
          </p:cNvSpPr>
          <p:nvPr>
            <p:ph type="body" idx="1"/>
          </p:nvPr>
        </p:nvSpPr>
        <p:spPr>
          <a:xfrm>
            <a:off x="381001" y="663731"/>
            <a:ext cx="8368363" cy="14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F7F7F"/>
              </a:buClr>
              <a:buSzPts val="1050"/>
              <a:buNone/>
              <a:defRPr sz="1050" b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0" name="Google Shape;40;p39"/>
          <p:cNvSpPr txBox="1">
            <a:spLocks noGrp="1"/>
          </p:cNvSpPr>
          <p:nvPr>
            <p:ph type="title"/>
          </p:nvPr>
        </p:nvSpPr>
        <p:spPr>
          <a:xfrm>
            <a:off x="381001" y="287080"/>
            <a:ext cx="8368363" cy="33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Calibri"/>
              <a:buNone/>
              <a:defRPr sz="2100" b="1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 Column">
  <p:cSld name="Content 3 Column">
    <p:bg>
      <p:bgPr>
        <a:solidFill>
          <a:schemeClr val="lt2">
            <a:alpha val="69411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8150" y="0"/>
            <a:ext cx="1085850" cy="11518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0"/>
          <p:cNvSpPr txBox="1">
            <a:spLocks noGrp="1"/>
          </p:cNvSpPr>
          <p:nvPr>
            <p:ph type="title"/>
          </p:nvPr>
        </p:nvSpPr>
        <p:spPr>
          <a:xfrm>
            <a:off x="628651" y="419861"/>
            <a:ext cx="7761110" cy="56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Calibri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1" y="2039746"/>
            <a:ext cx="622687" cy="191126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0"/>
          <p:cNvSpPr txBox="1">
            <a:spLocks noGrp="1"/>
          </p:cNvSpPr>
          <p:nvPr>
            <p:ph type="dt" idx="10"/>
          </p:nvPr>
        </p:nvSpPr>
        <p:spPr>
          <a:xfrm>
            <a:off x="628650" y="47434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0"/>
          <p:cNvSpPr txBox="1">
            <a:spLocks noGrp="1"/>
          </p:cNvSpPr>
          <p:nvPr>
            <p:ph type="ftr" idx="11"/>
          </p:nvPr>
        </p:nvSpPr>
        <p:spPr>
          <a:xfrm>
            <a:off x="3028950" y="4743450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0"/>
          <p:cNvSpPr txBox="1">
            <a:spLocks noGrp="1"/>
          </p:cNvSpPr>
          <p:nvPr>
            <p:ph type="sldNum" idx="12"/>
          </p:nvPr>
        </p:nvSpPr>
        <p:spPr>
          <a:xfrm>
            <a:off x="6457950" y="47434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40"/>
          <p:cNvSpPr txBox="1">
            <a:spLocks noGrp="1"/>
          </p:cNvSpPr>
          <p:nvPr>
            <p:ph type="body" idx="1"/>
          </p:nvPr>
        </p:nvSpPr>
        <p:spPr>
          <a:xfrm>
            <a:off x="754240" y="1289721"/>
            <a:ext cx="2475137" cy="41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0"/>
          <p:cNvSpPr txBox="1">
            <a:spLocks noGrp="1"/>
          </p:cNvSpPr>
          <p:nvPr>
            <p:ph type="body" idx="2"/>
          </p:nvPr>
        </p:nvSpPr>
        <p:spPr>
          <a:xfrm>
            <a:off x="754698" y="1749487"/>
            <a:ext cx="2474576" cy="26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Char char="•"/>
              <a:defRPr sz="135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40"/>
          <p:cNvSpPr txBox="1">
            <a:spLocks noGrp="1"/>
          </p:cNvSpPr>
          <p:nvPr>
            <p:ph type="body" idx="3"/>
          </p:nvPr>
        </p:nvSpPr>
        <p:spPr>
          <a:xfrm>
            <a:off x="3396946" y="1289721"/>
            <a:ext cx="2475137" cy="41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40"/>
          <p:cNvSpPr txBox="1">
            <a:spLocks noGrp="1"/>
          </p:cNvSpPr>
          <p:nvPr>
            <p:ph type="body" idx="4"/>
          </p:nvPr>
        </p:nvSpPr>
        <p:spPr>
          <a:xfrm>
            <a:off x="3397405" y="1749487"/>
            <a:ext cx="2474576" cy="26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Char char="•"/>
              <a:defRPr sz="135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40"/>
          <p:cNvSpPr txBox="1">
            <a:spLocks noGrp="1"/>
          </p:cNvSpPr>
          <p:nvPr>
            <p:ph type="body" idx="5"/>
          </p:nvPr>
        </p:nvSpPr>
        <p:spPr>
          <a:xfrm>
            <a:off x="6040213" y="1289721"/>
            <a:ext cx="2475137" cy="41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body" idx="6"/>
          </p:nvPr>
        </p:nvSpPr>
        <p:spPr>
          <a:xfrm>
            <a:off x="6040672" y="1749487"/>
            <a:ext cx="2474576" cy="26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Char char="•"/>
              <a:defRPr sz="135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nimalist_04">
  <p:cSld name="minimalist_04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>
            <a:spLocks noGrp="1"/>
          </p:cNvSpPr>
          <p:nvPr>
            <p:ph type="pic" idx="2"/>
          </p:nvPr>
        </p:nvSpPr>
        <p:spPr>
          <a:xfrm>
            <a:off x="4572000" y="994045"/>
            <a:ext cx="4572000" cy="315541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2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5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4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4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78" name="Google Shape;78;p54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54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0" name="Google Shape;80;p54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6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91" name="Google Shape;91;p56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92" name="Google Shape;92;p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57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57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99" name="Google Shape;99;p5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58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5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9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9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5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5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5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Three Sections">
  <p:cSld name="Picture with Three Section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0"/>
          <p:cNvSpPr/>
          <p:nvPr/>
        </p:nvSpPr>
        <p:spPr>
          <a:xfrm>
            <a:off x="3970972" y="0"/>
            <a:ext cx="5173028" cy="5143500"/>
          </a:xfrm>
          <a:custGeom>
            <a:avLst/>
            <a:gdLst/>
            <a:ahLst/>
            <a:cxnLst/>
            <a:rect l="l" t="t" r="r" b="b"/>
            <a:pathLst>
              <a:path w="6897370" h="6858000" extrusionOk="0">
                <a:moveTo>
                  <a:pt x="0" y="6858000"/>
                </a:moveTo>
                <a:lnTo>
                  <a:pt x="6896900" y="6858000"/>
                </a:lnTo>
                <a:lnTo>
                  <a:pt x="68969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0"/>
          <p:cNvSpPr/>
          <p:nvPr/>
        </p:nvSpPr>
        <p:spPr>
          <a:xfrm>
            <a:off x="8671678" y="4670574"/>
            <a:ext cx="199800" cy="199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0"/>
          <p:cNvSpPr txBox="1">
            <a:spLocks noGrp="1"/>
          </p:cNvSpPr>
          <p:nvPr>
            <p:ph type="title"/>
          </p:nvPr>
        </p:nvSpPr>
        <p:spPr>
          <a:xfrm>
            <a:off x="629841" y="313022"/>
            <a:ext cx="2949178" cy="976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60"/>
          <p:cNvSpPr txBox="1">
            <a:spLocks noGrp="1"/>
          </p:cNvSpPr>
          <p:nvPr>
            <p:ph type="body" idx="1"/>
          </p:nvPr>
        </p:nvSpPr>
        <p:spPr>
          <a:xfrm>
            <a:off x="5470689" y="894523"/>
            <a:ext cx="3043471" cy="1073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5F4F4"/>
              </a:buClr>
              <a:buSzPts val="1200"/>
              <a:buNone/>
              <a:defRPr sz="1200">
                <a:solidFill>
                  <a:srgbClr val="F5F4F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19" name="Google Shape;119;p6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6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6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60"/>
          <p:cNvSpPr/>
          <p:nvPr/>
        </p:nvSpPr>
        <p:spPr>
          <a:xfrm>
            <a:off x="0" y="1822809"/>
            <a:ext cx="2719388" cy="2578894"/>
          </a:xfrm>
          <a:custGeom>
            <a:avLst/>
            <a:gdLst/>
            <a:ahLst/>
            <a:cxnLst/>
            <a:rect l="l" t="t" r="r" b="b"/>
            <a:pathLst>
              <a:path w="3625850" h="3438525" extrusionOk="0">
                <a:moveTo>
                  <a:pt x="0" y="3438486"/>
                </a:moveTo>
                <a:lnTo>
                  <a:pt x="3625596" y="3438486"/>
                </a:lnTo>
                <a:lnTo>
                  <a:pt x="3625596" y="0"/>
                </a:lnTo>
                <a:lnTo>
                  <a:pt x="0" y="0"/>
                </a:lnTo>
                <a:lnTo>
                  <a:pt x="0" y="34384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0"/>
          <p:cNvSpPr>
            <a:spLocks noGrp="1"/>
          </p:cNvSpPr>
          <p:nvPr>
            <p:ph type="pic" idx="2"/>
          </p:nvPr>
        </p:nvSpPr>
        <p:spPr>
          <a:xfrm>
            <a:off x="0" y="2085918"/>
            <a:ext cx="4530600" cy="2052676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60"/>
          <p:cNvSpPr>
            <a:spLocks noGrp="1"/>
          </p:cNvSpPr>
          <p:nvPr>
            <p:ph type="pic" idx="3"/>
          </p:nvPr>
        </p:nvSpPr>
        <p:spPr>
          <a:xfrm>
            <a:off x="4939580" y="891009"/>
            <a:ext cx="282178" cy="282178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60"/>
          <p:cNvSpPr>
            <a:spLocks noGrp="1"/>
          </p:cNvSpPr>
          <p:nvPr>
            <p:ph type="pic" idx="4"/>
          </p:nvPr>
        </p:nvSpPr>
        <p:spPr>
          <a:xfrm>
            <a:off x="4939580" y="2158512"/>
            <a:ext cx="282178" cy="282178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60"/>
          <p:cNvSpPr txBox="1">
            <a:spLocks noGrp="1"/>
          </p:cNvSpPr>
          <p:nvPr>
            <p:ph type="body" idx="5"/>
          </p:nvPr>
        </p:nvSpPr>
        <p:spPr>
          <a:xfrm>
            <a:off x="5470688" y="2160268"/>
            <a:ext cx="3043471" cy="1073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5F4F4"/>
              </a:buClr>
              <a:buSzPts val="1200"/>
              <a:buNone/>
              <a:defRPr sz="1200">
                <a:solidFill>
                  <a:srgbClr val="F5F4F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27" name="Google Shape;127;p60"/>
          <p:cNvSpPr>
            <a:spLocks noGrp="1"/>
          </p:cNvSpPr>
          <p:nvPr>
            <p:ph type="pic" idx="6"/>
          </p:nvPr>
        </p:nvSpPr>
        <p:spPr>
          <a:xfrm>
            <a:off x="4939580" y="3426014"/>
            <a:ext cx="282178" cy="282178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60"/>
          <p:cNvSpPr txBox="1">
            <a:spLocks noGrp="1"/>
          </p:cNvSpPr>
          <p:nvPr>
            <p:ph type="body" idx="7"/>
          </p:nvPr>
        </p:nvSpPr>
        <p:spPr>
          <a:xfrm>
            <a:off x="5470688" y="3426013"/>
            <a:ext cx="3043471" cy="1073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5F4F4"/>
              </a:buClr>
              <a:buSzPts val="1200"/>
              <a:buNone/>
              <a:defRPr sz="1200">
                <a:solidFill>
                  <a:srgbClr val="F5F4F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Only">
  <p:cSld name="14_Title 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1"/>
          <p:cNvSpPr txBox="1">
            <a:spLocks noGrp="1"/>
          </p:cNvSpPr>
          <p:nvPr>
            <p:ph type="title"/>
          </p:nvPr>
        </p:nvSpPr>
        <p:spPr>
          <a:xfrm>
            <a:off x="278606" y="195263"/>
            <a:ext cx="8640366" cy="56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61"/>
          <p:cNvSpPr txBox="1">
            <a:spLocks noGrp="1"/>
          </p:cNvSpPr>
          <p:nvPr>
            <p:ph type="sldNum" idx="12"/>
          </p:nvPr>
        </p:nvSpPr>
        <p:spPr>
          <a:xfrm>
            <a:off x="8639175" y="4936484"/>
            <a:ext cx="279797" cy="154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2" name="Google Shape;132;p61"/>
          <p:cNvCxnSpPr/>
          <p:nvPr/>
        </p:nvCxnSpPr>
        <p:spPr>
          <a:xfrm>
            <a:off x="3592996" y="5188226"/>
            <a:ext cx="1438689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61"/>
          <p:cNvSpPr>
            <a:spLocks noGrp="1"/>
          </p:cNvSpPr>
          <p:nvPr>
            <p:ph type="chart" idx="2"/>
          </p:nvPr>
        </p:nvSpPr>
        <p:spPr>
          <a:xfrm>
            <a:off x="278606" y="925116"/>
            <a:ext cx="8640366" cy="3725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3"/>
          <p:cNvSpPr txBox="1">
            <a:spLocks noGrp="1"/>
          </p:cNvSpPr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39" name="Google Shape;139;p43"/>
          <p:cNvGrpSpPr/>
          <p:nvPr/>
        </p:nvGrpSpPr>
        <p:grpSpPr>
          <a:xfrm>
            <a:off x="-1469391" y="-1053437"/>
            <a:ext cx="11819341" cy="8031813"/>
            <a:chOff x="-1469391" y="-1053438"/>
            <a:chExt cx="11819341" cy="8031813"/>
          </a:xfrm>
        </p:grpSpPr>
        <p:sp>
          <p:nvSpPr>
            <p:cNvPr id="140" name="Google Shape;140;p43"/>
            <p:cNvSpPr/>
            <p:nvPr/>
          </p:nvSpPr>
          <p:spPr>
            <a:xfrm rot="10800000">
              <a:off x="8598250" y="-1053438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1" name="Google Shape;141;p43"/>
            <p:cNvSpPr/>
            <p:nvPr/>
          </p:nvSpPr>
          <p:spPr>
            <a:xfrm>
              <a:off x="-1469391" y="4341075"/>
              <a:ext cx="2652600" cy="2637300"/>
            </a:xfrm>
            <a:prstGeom prst="ellipse">
              <a:avLst/>
            </a:prstGeom>
            <a:solidFill>
              <a:srgbClr val="FFFFFF">
                <a:alpha val="3529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2" name="Google Shape;142;p43"/>
          <p:cNvGrpSpPr/>
          <p:nvPr/>
        </p:nvGrpSpPr>
        <p:grpSpPr>
          <a:xfrm>
            <a:off x="-1567407" y="-1940307"/>
            <a:ext cx="12071370" cy="9023298"/>
            <a:chOff x="-1567409" y="-1940307"/>
            <a:chExt cx="12071370" cy="9023298"/>
          </a:xfrm>
        </p:grpSpPr>
        <p:grpSp>
          <p:nvGrpSpPr>
            <p:cNvPr id="143" name="Google Shape;143;p43"/>
            <p:cNvGrpSpPr/>
            <p:nvPr/>
          </p:nvGrpSpPr>
          <p:grpSpPr>
            <a:xfrm rot="-5400000" flipH="1">
              <a:off x="7927473" y="-1940978"/>
              <a:ext cx="2575817" cy="2577160"/>
              <a:chOff x="1550275" y="1493275"/>
              <a:chExt cx="1582100" cy="1582925"/>
            </a:xfrm>
          </p:grpSpPr>
          <p:sp>
            <p:nvSpPr>
              <p:cNvPr id="144" name="Google Shape;144;p4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" name="Google Shape;145;p4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" name="Google Shape;146;p4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" name="Google Shape;147;p4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" name="Google Shape;148;p4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" name="Google Shape;149;p4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" name="Google Shape;150;p43"/>
              <p:cNvSpPr/>
              <p:nvPr/>
            </p:nvSpPr>
            <p:spPr>
              <a:xfrm>
                <a:off x="1709084" y="1684325"/>
                <a:ext cx="1149310" cy="11654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" name="Google Shape;151;p43"/>
              <p:cNvSpPr/>
              <p:nvPr/>
            </p:nvSpPr>
            <p:spPr>
              <a:xfrm>
                <a:off x="1773071" y="1767246"/>
                <a:ext cx="1169157" cy="1173957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" name="Google Shape;152;p43"/>
              <p:cNvSpPr/>
              <p:nvPr/>
            </p:nvSpPr>
            <p:spPr>
              <a:xfrm>
                <a:off x="1873618" y="1863199"/>
                <a:ext cx="1138508" cy="112354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" name="Google Shape;153;p4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" name="Google Shape;154;p4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" name="Google Shape;155;p4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" name="Google Shape;156;p4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" name="Google Shape;157;p4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8" name="Google Shape;158;p43"/>
            <p:cNvGrpSpPr/>
            <p:nvPr/>
          </p:nvGrpSpPr>
          <p:grpSpPr>
            <a:xfrm rot="-5400000" flipH="1">
              <a:off x="-1566737" y="4506503"/>
              <a:ext cx="2575817" cy="2577160"/>
              <a:chOff x="1550275" y="1493275"/>
              <a:chExt cx="1582100" cy="1582925"/>
            </a:xfrm>
          </p:grpSpPr>
          <p:sp>
            <p:nvSpPr>
              <p:cNvPr id="159" name="Google Shape;159;p4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" name="Google Shape;160;p4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" name="Google Shape;161;p4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2" name="Google Shape;162;p4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3" name="Google Shape;163;p4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4" name="Google Shape;164;p4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5" name="Google Shape;165;p43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6" name="Google Shape;166;p43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7" name="Google Shape;167;p43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8" name="Google Shape;168;p4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9" name="Google Shape;169;p4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0" name="Google Shape;170;p4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1" name="Google Shape;171;p4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2" name="Google Shape;172;p4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  <p:transition spd="slow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4"/>
          <p:cNvSpPr txBox="1">
            <a:spLocks noGrp="1"/>
          </p:cNvSpPr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4"/>
          <p:cNvSpPr txBox="1">
            <a:spLocks noGrp="1"/>
          </p:cNvSpPr>
          <p:nvPr>
            <p:ph type="subTitle" idx="1"/>
          </p:nvPr>
        </p:nvSpPr>
        <p:spPr>
          <a:xfrm>
            <a:off x="1348875" y="3244753"/>
            <a:ext cx="26067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4"/>
          <p:cNvSpPr txBox="1">
            <a:spLocks noGrp="1"/>
          </p:cNvSpPr>
          <p:nvPr>
            <p:ph type="subTitle" idx="2"/>
          </p:nvPr>
        </p:nvSpPr>
        <p:spPr>
          <a:xfrm>
            <a:off x="1348875" y="2812600"/>
            <a:ext cx="26067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ubTitle" idx="3"/>
          </p:nvPr>
        </p:nvSpPr>
        <p:spPr>
          <a:xfrm>
            <a:off x="5188425" y="3244753"/>
            <a:ext cx="26067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44"/>
          <p:cNvSpPr txBox="1">
            <a:spLocks noGrp="1"/>
          </p:cNvSpPr>
          <p:nvPr>
            <p:ph type="subTitle" idx="4"/>
          </p:nvPr>
        </p:nvSpPr>
        <p:spPr>
          <a:xfrm>
            <a:off x="5188425" y="2812600"/>
            <a:ext cx="26067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79" name="Google Shape;179;p44"/>
          <p:cNvGrpSpPr/>
          <p:nvPr/>
        </p:nvGrpSpPr>
        <p:grpSpPr>
          <a:xfrm>
            <a:off x="-1631326" y="-2143285"/>
            <a:ext cx="11579599" cy="9116088"/>
            <a:chOff x="-1631326" y="-2143285"/>
            <a:chExt cx="11579599" cy="9116088"/>
          </a:xfrm>
        </p:grpSpPr>
        <p:sp>
          <p:nvSpPr>
            <p:cNvPr id="180" name="Google Shape;180;p44"/>
            <p:cNvSpPr/>
            <p:nvPr/>
          </p:nvSpPr>
          <p:spPr>
            <a:xfrm>
              <a:off x="-1452534" y="4335503"/>
              <a:ext cx="2652600" cy="2637300"/>
            </a:xfrm>
            <a:prstGeom prst="ellipse">
              <a:avLst/>
            </a:prstGeom>
            <a:solidFill>
              <a:srgbClr val="FFFFFF">
                <a:alpha val="3529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1" name="Google Shape;181;p44"/>
            <p:cNvSpPr/>
            <p:nvPr/>
          </p:nvSpPr>
          <p:spPr>
            <a:xfrm rot="-5400000">
              <a:off x="-1638976" y="-2135635"/>
              <a:ext cx="2652600" cy="2637300"/>
            </a:xfrm>
            <a:prstGeom prst="ellipse">
              <a:avLst/>
            </a:prstGeom>
            <a:solidFill>
              <a:srgbClr val="FFFFFF">
                <a:alpha val="3529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2" name="Google Shape;182;p44"/>
            <p:cNvSpPr/>
            <p:nvPr/>
          </p:nvSpPr>
          <p:spPr>
            <a:xfrm flipH="1">
              <a:off x="8196573" y="4466980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3" name="Google Shape;183;p44"/>
          <p:cNvGrpSpPr/>
          <p:nvPr/>
        </p:nvGrpSpPr>
        <p:grpSpPr>
          <a:xfrm>
            <a:off x="-1550552" y="-1969827"/>
            <a:ext cx="11652838" cy="9075376"/>
            <a:chOff x="-1550552" y="-1969827"/>
            <a:chExt cx="11652838" cy="9075376"/>
          </a:xfrm>
        </p:grpSpPr>
        <p:grpSp>
          <p:nvGrpSpPr>
            <p:cNvPr id="184" name="Google Shape;184;p44"/>
            <p:cNvGrpSpPr/>
            <p:nvPr/>
          </p:nvGrpSpPr>
          <p:grpSpPr>
            <a:xfrm rot="-5400000" flipH="1">
              <a:off x="-1549881" y="4500931"/>
              <a:ext cx="2575817" cy="2577160"/>
              <a:chOff x="1550275" y="1493275"/>
              <a:chExt cx="1582100" cy="1582925"/>
            </a:xfrm>
          </p:grpSpPr>
          <p:sp>
            <p:nvSpPr>
              <p:cNvPr id="185" name="Google Shape;185;p4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6" name="Google Shape;186;p4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7" name="Google Shape;187;p4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8" name="Google Shape;188;p4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9" name="Google Shape;189;p4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0" name="Google Shape;190;p4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1" name="Google Shape;191;p44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2" name="Google Shape;192;p44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3" name="Google Shape;193;p44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4" name="Google Shape;194;p4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5" name="Google Shape;195;p4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6" name="Google Shape;196;p4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7" name="Google Shape;197;p4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8" name="Google Shape;198;p4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9" name="Google Shape;199;p44"/>
            <p:cNvGrpSpPr/>
            <p:nvPr/>
          </p:nvGrpSpPr>
          <p:grpSpPr>
            <a:xfrm rot="10800000" flipH="1">
              <a:off x="-1465227" y="-1969827"/>
              <a:ext cx="2575817" cy="2577160"/>
              <a:chOff x="1550275" y="1493275"/>
              <a:chExt cx="1582100" cy="1582925"/>
            </a:xfrm>
          </p:grpSpPr>
          <p:sp>
            <p:nvSpPr>
              <p:cNvPr id="200" name="Google Shape;200;p4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1" name="Google Shape;201;p4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4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4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" name="Google Shape;204;p4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" name="Google Shape;205;p4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" name="Google Shape;206;p44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" name="Google Shape;207;p44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44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4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" name="Google Shape;210;p4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4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" name="Google Shape;212;p4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3" name="Google Shape;213;p4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4" name="Google Shape;214;p44"/>
            <p:cNvGrpSpPr/>
            <p:nvPr/>
          </p:nvGrpSpPr>
          <p:grpSpPr>
            <a:xfrm rot="-5400000">
              <a:off x="7525797" y="4529060"/>
              <a:ext cx="2575817" cy="2577160"/>
              <a:chOff x="1550275" y="1493275"/>
              <a:chExt cx="1582100" cy="1582925"/>
            </a:xfrm>
          </p:grpSpPr>
          <p:sp>
            <p:nvSpPr>
              <p:cNvPr id="215" name="Google Shape;215;p4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" name="Google Shape;216;p4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" name="Google Shape;217;p4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" name="Google Shape;218;p4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" name="Google Shape;219;p4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" name="Google Shape;220;p4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" name="Google Shape;221;p4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" name="Google Shape;222;p4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" name="Google Shape;223;p4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" name="Google Shape;224;p4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" name="Google Shape;225;p4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" name="Google Shape;226;p4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" name="Google Shape;227;p4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" name="Google Shape;228;p4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  <p:transition spd="slow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5"/>
          <p:cNvSpPr txBox="1">
            <a:spLocks noGrp="1"/>
          </p:cNvSpPr>
          <p:nvPr>
            <p:ph type="title"/>
          </p:nvPr>
        </p:nvSpPr>
        <p:spPr>
          <a:xfrm>
            <a:off x="770463" y="1150300"/>
            <a:ext cx="3186600" cy="15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45"/>
          <p:cNvSpPr txBox="1">
            <a:spLocks noGrp="1"/>
          </p:cNvSpPr>
          <p:nvPr>
            <p:ph type="subTitle" idx="1"/>
          </p:nvPr>
        </p:nvSpPr>
        <p:spPr>
          <a:xfrm>
            <a:off x="770463" y="2936600"/>
            <a:ext cx="3186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45"/>
          <p:cNvSpPr>
            <a:spLocks noGrp="1"/>
          </p:cNvSpPr>
          <p:nvPr>
            <p:ph type="pic" idx="2"/>
          </p:nvPr>
        </p:nvSpPr>
        <p:spPr>
          <a:xfrm>
            <a:off x="4691300" y="681676"/>
            <a:ext cx="3780300" cy="37803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233" name="Google Shape;233;p45"/>
          <p:cNvGrpSpPr/>
          <p:nvPr/>
        </p:nvGrpSpPr>
        <p:grpSpPr>
          <a:xfrm>
            <a:off x="-1104161" y="-1854619"/>
            <a:ext cx="11376861" cy="9205100"/>
            <a:chOff x="-1104162" y="-1854619"/>
            <a:chExt cx="11376861" cy="9205100"/>
          </a:xfrm>
        </p:grpSpPr>
        <p:sp>
          <p:nvSpPr>
            <p:cNvPr id="234" name="Google Shape;234;p45"/>
            <p:cNvSpPr/>
            <p:nvPr/>
          </p:nvSpPr>
          <p:spPr>
            <a:xfrm rot="10800000" flipH="1">
              <a:off x="2425838" y="4713181"/>
              <a:ext cx="2652600" cy="2637300"/>
            </a:xfrm>
            <a:prstGeom prst="ellipse">
              <a:avLst/>
            </a:prstGeom>
            <a:solidFill>
              <a:srgbClr val="FFFFFF">
                <a:alpha val="3529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5" name="Google Shape;235;p45"/>
            <p:cNvSpPr/>
            <p:nvPr/>
          </p:nvSpPr>
          <p:spPr>
            <a:xfrm rot="10800000" flipH="1">
              <a:off x="-1104162" y="-1053438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6" name="Google Shape;236;p45"/>
            <p:cNvSpPr/>
            <p:nvPr/>
          </p:nvSpPr>
          <p:spPr>
            <a:xfrm rot="10800000">
              <a:off x="7657899" y="-1854619"/>
              <a:ext cx="2614800" cy="2599800"/>
            </a:xfrm>
            <a:prstGeom prst="ellipse">
              <a:avLst/>
            </a:prstGeom>
            <a:solidFill>
              <a:srgbClr val="FFFFFF">
                <a:alpha val="3529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7" name="Google Shape;237;p45"/>
          <p:cNvGrpSpPr/>
          <p:nvPr/>
        </p:nvGrpSpPr>
        <p:grpSpPr>
          <a:xfrm>
            <a:off x="-1258175" y="-1982581"/>
            <a:ext cx="11660349" cy="9166963"/>
            <a:chOff x="-1258175" y="-1982582"/>
            <a:chExt cx="11660349" cy="9166963"/>
          </a:xfrm>
        </p:grpSpPr>
        <p:grpSp>
          <p:nvGrpSpPr>
            <p:cNvPr id="238" name="Google Shape;238;p45"/>
            <p:cNvGrpSpPr/>
            <p:nvPr/>
          </p:nvGrpSpPr>
          <p:grpSpPr>
            <a:xfrm rot="-5400000">
              <a:off x="2328492" y="4607893"/>
              <a:ext cx="2575817" cy="2577160"/>
              <a:chOff x="1550275" y="1493275"/>
              <a:chExt cx="1582100" cy="1582925"/>
            </a:xfrm>
          </p:grpSpPr>
          <p:sp>
            <p:nvSpPr>
              <p:cNvPr id="239" name="Google Shape;239;p4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4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4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" name="Google Shape;242;p4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" name="Google Shape;243;p4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" name="Google Shape;244;p4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45"/>
              <p:cNvSpPr/>
              <p:nvPr/>
            </p:nvSpPr>
            <p:spPr>
              <a:xfrm>
                <a:off x="1748916" y="1684327"/>
                <a:ext cx="1109495" cy="1112339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45"/>
              <p:cNvSpPr/>
              <p:nvPr/>
            </p:nvSpPr>
            <p:spPr>
              <a:xfrm>
                <a:off x="1831191" y="1767249"/>
                <a:ext cx="1110926" cy="1111770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" name="Google Shape;247;p45"/>
              <p:cNvSpPr/>
              <p:nvPr/>
            </p:nvSpPr>
            <p:spPr>
              <a:xfrm>
                <a:off x="1922602" y="1863202"/>
                <a:ext cx="1089496" cy="108893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" name="Google Shape;248;p4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" name="Google Shape;249;p4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" name="Google Shape;250;p4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" name="Google Shape;251;p4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" name="Google Shape;252;p4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3" name="Google Shape;253;p45"/>
            <p:cNvGrpSpPr/>
            <p:nvPr/>
          </p:nvGrpSpPr>
          <p:grpSpPr>
            <a:xfrm rot="5400000">
              <a:off x="-1257503" y="-1940978"/>
              <a:ext cx="2575817" cy="2577160"/>
              <a:chOff x="1550275" y="1493275"/>
              <a:chExt cx="1582100" cy="1582925"/>
            </a:xfrm>
          </p:grpSpPr>
          <p:sp>
            <p:nvSpPr>
              <p:cNvPr id="254" name="Google Shape;254;p4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" name="Google Shape;255;p4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" name="Google Shape;256;p4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" name="Google Shape;257;p4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" name="Google Shape;258;p4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" name="Google Shape;259;p4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" name="Google Shape;260;p45"/>
              <p:cNvSpPr/>
              <p:nvPr/>
            </p:nvSpPr>
            <p:spPr>
              <a:xfrm>
                <a:off x="1718221" y="1684321"/>
                <a:ext cx="1140209" cy="111271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" name="Google Shape;261;p45"/>
              <p:cNvSpPr/>
              <p:nvPr/>
            </p:nvSpPr>
            <p:spPr>
              <a:xfrm>
                <a:off x="1763934" y="1767251"/>
                <a:ext cx="1178261" cy="114855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" name="Google Shape;262;p45"/>
              <p:cNvSpPr/>
              <p:nvPr/>
            </p:nvSpPr>
            <p:spPr>
              <a:xfrm>
                <a:off x="1928468" y="1863204"/>
                <a:ext cx="1083509" cy="1098288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" name="Google Shape;263;p4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" name="Google Shape;264;p4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" name="Google Shape;265;p4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" name="Google Shape;266;p4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" name="Google Shape;267;p4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8" name="Google Shape;268;p45"/>
            <p:cNvGrpSpPr/>
            <p:nvPr/>
          </p:nvGrpSpPr>
          <p:grpSpPr>
            <a:xfrm rot="-5400000" flipH="1">
              <a:off x="7825686" y="-1983253"/>
              <a:ext cx="2575817" cy="2577160"/>
              <a:chOff x="1550275" y="1493275"/>
              <a:chExt cx="1582100" cy="1582925"/>
            </a:xfrm>
          </p:grpSpPr>
          <p:sp>
            <p:nvSpPr>
              <p:cNvPr id="269" name="Google Shape;269;p4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0" name="Google Shape;270;p4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1" name="Google Shape;271;p4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2" name="Google Shape;272;p4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3" name="Google Shape;273;p4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4" name="Google Shape;274;p4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5" name="Google Shape;275;p45"/>
              <p:cNvSpPr/>
              <p:nvPr/>
            </p:nvSpPr>
            <p:spPr>
              <a:xfrm>
                <a:off x="1716762" y="1684320"/>
                <a:ext cx="1141726" cy="1127317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6" name="Google Shape;276;p45"/>
              <p:cNvSpPr/>
              <p:nvPr/>
            </p:nvSpPr>
            <p:spPr>
              <a:xfrm>
                <a:off x="1789900" y="1767251"/>
                <a:ext cx="1152276" cy="112674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7" name="Google Shape;277;p45"/>
              <p:cNvSpPr/>
              <p:nvPr/>
            </p:nvSpPr>
            <p:spPr>
              <a:xfrm>
                <a:off x="1881311" y="1863204"/>
                <a:ext cx="1130651" cy="1122046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8" name="Google Shape;278;p4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9" name="Google Shape;279;p4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0" name="Google Shape;280;p4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1" name="Google Shape;281;p4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2" name="Google Shape;282;p4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  <p:transition spd="slow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46"/>
          <p:cNvGrpSpPr/>
          <p:nvPr/>
        </p:nvGrpSpPr>
        <p:grpSpPr>
          <a:xfrm>
            <a:off x="-1492759" y="-2032508"/>
            <a:ext cx="12250075" cy="8325602"/>
            <a:chOff x="-1492759" y="-2032508"/>
            <a:chExt cx="12250075" cy="8325602"/>
          </a:xfrm>
        </p:grpSpPr>
        <p:sp>
          <p:nvSpPr>
            <p:cNvPr id="285" name="Google Shape;285;p46"/>
            <p:cNvSpPr/>
            <p:nvPr/>
          </p:nvSpPr>
          <p:spPr>
            <a:xfrm rot="10800000" flipH="1">
              <a:off x="-1492759" y="-1738446"/>
              <a:ext cx="2614800" cy="2599800"/>
            </a:xfrm>
            <a:prstGeom prst="ellipse">
              <a:avLst/>
            </a:prstGeom>
            <a:solidFill>
              <a:srgbClr val="FFFFFF">
                <a:alpha val="3529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6" name="Google Shape;286;p46"/>
            <p:cNvSpPr/>
            <p:nvPr/>
          </p:nvSpPr>
          <p:spPr>
            <a:xfrm>
              <a:off x="8104716" y="-2032508"/>
              <a:ext cx="2652600" cy="2637300"/>
            </a:xfrm>
            <a:prstGeom prst="ellipse">
              <a:avLst/>
            </a:prstGeom>
            <a:solidFill>
              <a:srgbClr val="FFFFFF">
                <a:alpha val="3529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7" name="Google Shape;287;p46"/>
            <p:cNvSpPr/>
            <p:nvPr/>
          </p:nvSpPr>
          <p:spPr>
            <a:xfrm flipH="1">
              <a:off x="8122159" y="454139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8" name="Google Shape;288;p46"/>
            <p:cNvSpPr/>
            <p:nvPr/>
          </p:nvSpPr>
          <p:spPr>
            <a:xfrm>
              <a:off x="-779552" y="454139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89" name="Google Shape;289;p46"/>
          <p:cNvSpPr txBox="1">
            <a:spLocks noGrp="1"/>
          </p:cNvSpPr>
          <p:nvPr>
            <p:ph type="title"/>
          </p:nvPr>
        </p:nvSpPr>
        <p:spPr>
          <a:xfrm>
            <a:off x="1972800" y="1411500"/>
            <a:ext cx="5198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290" name="Google Shape;290;p46"/>
          <p:cNvGrpSpPr/>
          <p:nvPr/>
        </p:nvGrpSpPr>
        <p:grpSpPr>
          <a:xfrm>
            <a:off x="-1622234" y="-1866410"/>
            <a:ext cx="12206092" cy="9046372"/>
            <a:chOff x="-1622234" y="-1866410"/>
            <a:chExt cx="12206092" cy="9046372"/>
          </a:xfrm>
        </p:grpSpPr>
        <p:grpSp>
          <p:nvGrpSpPr>
            <p:cNvPr id="291" name="Google Shape;291;p46"/>
            <p:cNvGrpSpPr/>
            <p:nvPr/>
          </p:nvGrpSpPr>
          <p:grpSpPr>
            <a:xfrm rot="5400000">
              <a:off x="-1621562" y="-1867081"/>
              <a:ext cx="2575817" cy="2577160"/>
              <a:chOff x="1550275" y="1493275"/>
              <a:chExt cx="1582100" cy="1582925"/>
            </a:xfrm>
          </p:grpSpPr>
          <p:sp>
            <p:nvSpPr>
              <p:cNvPr id="292" name="Google Shape;292;p4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3" name="Google Shape;293;p4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4" name="Google Shape;294;p4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5" name="Google Shape;295;p4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6" name="Google Shape;296;p4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7" name="Google Shape;297;p4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8" name="Google Shape;298;p46"/>
              <p:cNvSpPr/>
              <p:nvPr/>
            </p:nvSpPr>
            <p:spPr>
              <a:xfrm>
                <a:off x="1700256" y="1684326"/>
                <a:ext cx="1158221" cy="111764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9" name="Google Shape;299;p46"/>
              <p:cNvSpPr/>
              <p:nvPr/>
            </p:nvSpPr>
            <p:spPr>
              <a:xfrm>
                <a:off x="1791667" y="1767247"/>
                <a:ext cx="1150569" cy="1135280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0" name="Google Shape;300;p46"/>
              <p:cNvSpPr/>
              <p:nvPr/>
            </p:nvSpPr>
            <p:spPr>
              <a:xfrm>
                <a:off x="1937927" y="1863201"/>
                <a:ext cx="1074156" cy="1085006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1" name="Google Shape;301;p4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2" name="Google Shape;302;p4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3" name="Google Shape;303;p4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4" name="Google Shape;304;p4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5" name="Google Shape;305;p4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06" name="Google Shape;306;p46"/>
            <p:cNvGrpSpPr/>
            <p:nvPr/>
          </p:nvGrpSpPr>
          <p:grpSpPr>
            <a:xfrm rot="-5400000" flipH="1">
              <a:off x="8007370" y="-1867081"/>
              <a:ext cx="2575817" cy="2577160"/>
              <a:chOff x="1550275" y="1493275"/>
              <a:chExt cx="1582100" cy="1582925"/>
            </a:xfrm>
          </p:grpSpPr>
          <p:sp>
            <p:nvSpPr>
              <p:cNvPr id="307" name="Google Shape;307;p4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8" name="Google Shape;308;p4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9" name="Google Shape;309;p4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0" name="Google Shape;310;p4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1" name="Google Shape;311;p4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2" name="Google Shape;312;p4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3" name="Google Shape;313;p46"/>
              <p:cNvSpPr/>
              <p:nvPr/>
            </p:nvSpPr>
            <p:spPr>
              <a:xfrm>
                <a:off x="1718544" y="1684326"/>
                <a:ext cx="1139830" cy="1125421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4" name="Google Shape;314;p46"/>
              <p:cNvSpPr/>
              <p:nvPr/>
            </p:nvSpPr>
            <p:spPr>
              <a:xfrm>
                <a:off x="1800803" y="1767246"/>
                <a:ext cx="1141274" cy="1143053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5" name="Google Shape;315;p46"/>
              <p:cNvSpPr/>
              <p:nvPr/>
            </p:nvSpPr>
            <p:spPr>
              <a:xfrm>
                <a:off x="1883078" y="1863201"/>
                <a:ext cx="1128967" cy="1138508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6" name="Google Shape;316;p4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7" name="Google Shape;317;p4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8" name="Google Shape;318;p4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9" name="Google Shape;319;p4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0" name="Google Shape;320;p4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1" name="Google Shape;321;p46"/>
            <p:cNvGrpSpPr/>
            <p:nvPr/>
          </p:nvGrpSpPr>
          <p:grpSpPr>
            <a:xfrm rot="-5400000">
              <a:off x="7451383" y="4603474"/>
              <a:ext cx="2575817" cy="2577160"/>
              <a:chOff x="1550275" y="1493275"/>
              <a:chExt cx="1582100" cy="1582925"/>
            </a:xfrm>
          </p:grpSpPr>
          <p:sp>
            <p:nvSpPr>
              <p:cNvPr id="322" name="Google Shape;322;p4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3" name="Google Shape;323;p4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4" name="Google Shape;324;p4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5" name="Google Shape;325;p4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6" name="Google Shape;326;p4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7" name="Google Shape;327;p4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8" name="Google Shape;328;p46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9" name="Google Shape;329;p46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0" name="Google Shape;330;p46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1" name="Google Shape;331;p4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2" name="Google Shape;332;p4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3" name="Google Shape;333;p4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4" name="Google Shape;334;p4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5" name="Google Shape;335;p4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6" name="Google Shape;336;p46"/>
            <p:cNvGrpSpPr/>
            <p:nvPr/>
          </p:nvGrpSpPr>
          <p:grpSpPr>
            <a:xfrm rot="5400000" flipH="1">
              <a:off x="-932892" y="4603474"/>
              <a:ext cx="2575817" cy="2577160"/>
              <a:chOff x="1550275" y="1493275"/>
              <a:chExt cx="1582100" cy="1582925"/>
            </a:xfrm>
          </p:grpSpPr>
          <p:sp>
            <p:nvSpPr>
              <p:cNvPr id="337" name="Google Shape;337;p4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8" name="Google Shape;338;p4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9" name="Google Shape;339;p4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0" name="Google Shape;340;p4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1" name="Google Shape;341;p4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2" name="Google Shape;342;p4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3" name="Google Shape;343;p46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4" name="Google Shape;344;p46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5" name="Google Shape;345;p46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6" name="Google Shape;346;p4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7" name="Google Shape;347;p4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8" name="Google Shape;348;p4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9" name="Google Shape;349;p4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0" name="Google Shape;350;p4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  <p:transition spd="slow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47"/>
          <p:cNvGrpSpPr/>
          <p:nvPr/>
        </p:nvGrpSpPr>
        <p:grpSpPr>
          <a:xfrm>
            <a:off x="-1140562" y="-1892252"/>
            <a:ext cx="11385547" cy="9159207"/>
            <a:chOff x="-1140563" y="-1892252"/>
            <a:chExt cx="11385547" cy="9159207"/>
          </a:xfrm>
        </p:grpSpPr>
        <p:sp>
          <p:nvSpPr>
            <p:cNvPr id="353" name="Google Shape;353;p47"/>
            <p:cNvSpPr/>
            <p:nvPr/>
          </p:nvSpPr>
          <p:spPr>
            <a:xfrm rot="5400000" flipH="1">
              <a:off x="8493284" y="-1067752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4" name="Google Shape;354;p47"/>
            <p:cNvSpPr/>
            <p:nvPr/>
          </p:nvSpPr>
          <p:spPr>
            <a:xfrm rot="10800000">
              <a:off x="2973434" y="4629655"/>
              <a:ext cx="2652600" cy="2637300"/>
            </a:xfrm>
            <a:prstGeom prst="ellipse">
              <a:avLst/>
            </a:prstGeom>
            <a:solidFill>
              <a:srgbClr val="FFFFFF">
                <a:alpha val="3529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5" name="Google Shape;355;p47"/>
            <p:cNvSpPr/>
            <p:nvPr/>
          </p:nvSpPr>
          <p:spPr>
            <a:xfrm rot="5400000">
              <a:off x="-1148213" y="-1884602"/>
              <a:ext cx="2652600" cy="2637300"/>
            </a:xfrm>
            <a:prstGeom prst="ellipse">
              <a:avLst/>
            </a:prstGeom>
            <a:solidFill>
              <a:srgbClr val="FFFFFF">
                <a:alpha val="3529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6" name="Google Shape;356;p47"/>
          <p:cNvGrpSpPr/>
          <p:nvPr/>
        </p:nvGrpSpPr>
        <p:grpSpPr>
          <a:xfrm>
            <a:off x="-1245179" y="-1990269"/>
            <a:ext cx="11680420" cy="9091126"/>
            <a:chOff x="-1245180" y="-1990269"/>
            <a:chExt cx="11680420" cy="9091126"/>
          </a:xfrm>
        </p:grpSpPr>
        <p:grpSp>
          <p:nvGrpSpPr>
            <p:cNvPr id="357" name="Google Shape;357;p47"/>
            <p:cNvGrpSpPr/>
            <p:nvPr/>
          </p:nvGrpSpPr>
          <p:grpSpPr>
            <a:xfrm>
              <a:off x="7859423" y="-1977325"/>
              <a:ext cx="2575817" cy="2577160"/>
              <a:chOff x="1550275" y="1493275"/>
              <a:chExt cx="1582100" cy="1582925"/>
            </a:xfrm>
          </p:grpSpPr>
          <p:sp>
            <p:nvSpPr>
              <p:cNvPr id="358" name="Google Shape;358;p4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9" name="Google Shape;359;p4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0" name="Google Shape;360;p4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1" name="Google Shape;361;p4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2" name="Google Shape;362;p4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3" name="Google Shape;363;p4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4" name="Google Shape;364;p47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5" name="Google Shape;365;p47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6" name="Google Shape;366;p47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7" name="Google Shape;367;p4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8" name="Google Shape;368;p4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9" name="Google Shape;369;p4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0" name="Google Shape;370;p4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1" name="Google Shape;371;p4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72" name="Google Shape;372;p47"/>
            <p:cNvGrpSpPr/>
            <p:nvPr/>
          </p:nvGrpSpPr>
          <p:grpSpPr>
            <a:xfrm flipH="1">
              <a:off x="-1245180" y="-1990269"/>
              <a:ext cx="2575817" cy="2577160"/>
              <a:chOff x="1550275" y="1493275"/>
              <a:chExt cx="1582100" cy="1582925"/>
            </a:xfrm>
          </p:grpSpPr>
          <p:sp>
            <p:nvSpPr>
              <p:cNvPr id="373" name="Google Shape;373;p4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4" name="Google Shape;374;p4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5" name="Google Shape;375;p4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6" name="Google Shape;376;p4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7" name="Google Shape;377;p4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8" name="Google Shape;378;p4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9" name="Google Shape;379;p47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0" name="Google Shape;380;p47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1" name="Google Shape;381;p47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2" name="Google Shape;382;p4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3" name="Google Shape;383;p4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4" name="Google Shape;384;p4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5" name="Google Shape;385;p4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6" name="Google Shape;386;p4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87" name="Google Shape;387;p47"/>
            <p:cNvGrpSpPr/>
            <p:nvPr/>
          </p:nvGrpSpPr>
          <p:grpSpPr>
            <a:xfrm rot="5400000" flipH="1">
              <a:off x="3147563" y="4524368"/>
              <a:ext cx="2575817" cy="2577160"/>
              <a:chOff x="1550275" y="1493275"/>
              <a:chExt cx="1582100" cy="1582925"/>
            </a:xfrm>
          </p:grpSpPr>
          <p:sp>
            <p:nvSpPr>
              <p:cNvPr id="388" name="Google Shape;388;p4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9" name="Google Shape;389;p4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0" name="Google Shape;390;p4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1" name="Google Shape;391;p4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2" name="Google Shape;392;p4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3" name="Google Shape;393;p4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4" name="Google Shape;394;p47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5" name="Google Shape;395;p47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6" name="Google Shape;396;p47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7" name="Google Shape;397;p4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8" name="Google Shape;398;p4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9" name="Google Shape;399;p4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0" name="Google Shape;400;p4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1" name="Google Shape;401;p4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402" name="Google Shape;402;p47"/>
          <p:cNvSpPr txBox="1">
            <a:spLocks noGrp="1"/>
          </p:cNvSpPr>
          <p:nvPr>
            <p:ph type="title"/>
          </p:nvPr>
        </p:nvSpPr>
        <p:spPr>
          <a:xfrm>
            <a:off x="4276925" y="1364150"/>
            <a:ext cx="4153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03" name="Google Shape;403;p47"/>
          <p:cNvSpPr txBox="1">
            <a:spLocks noGrp="1"/>
          </p:cNvSpPr>
          <p:nvPr>
            <p:ph type="subTitle" idx="1"/>
          </p:nvPr>
        </p:nvSpPr>
        <p:spPr>
          <a:xfrm>
            <a:off x="4276925" y="2305368"/>
            <a:ext cx="4153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>
            <a:spLocks noGrp="1"/>
          </p:cNvSpPr>
          <p:nvPr>
            <p:ph type="pic" idx="2"/>
          </p:nvPr>
        </p:nvSpPr>
        <p:spPr>
          <a:xfrm>
            <a:off x="-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8"/>
          <p:cNvSpPr txBox="1">
            <a:spLocks noGrp="1"/>
          </p:cNvSpPr>
          <p:nvPr>
            <p:ph type="title"/>
          </p:nvPr>
        </p:nvSpPr>
        <p:spPr>
          <a:xfrm>
            <a:off x="3762775" y="3377075"/>
            <a:ext cx="4668000" cy="12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9"/>
          <p:cNvSpPr txBox="1">
            <a:spLocks noGrp="1"/>
          </p:cNvSpPr>
          <p:nvPr>
            <p:ph type="title"/>
          </p:nvPr>
        </p:nvSpPr>
        <p:spPr>
          <a:xfrm>
            <a:off x="1078800" y="1282933"/>
            <a:ext cx="69864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endParaRPr/>
          </a:p>
        </p:txBody>
      </p:sp>
      <p:sp>
        <p:nvSpPr>
          <p:cNvPr id="409" name="Google Shape;409;p49"/>
          <p:cNvSpPr txBox="1">
            <a:spLocks noGrp="1"/>
          </p:cNvSpPr>
          <p:nvPr>
            <p:ph type="subTitle" idx="1"/>
          </p:nvPr>
        </p:nvSpPr>
        <p:spPr>
          <a:xfrm>
            <a:off x="1078800" y="3130400"/>
            <a:ext cx="698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410" name="Google Shape;410;p49"/>
          <p:cNvGrpSpPr/>
          <p:nvPr/>
        </p:nvGrpSpPr>
        <p:grpSpPr>
          <a:xfrm>
            <a:off x="-1362641" y="-2008234"/>
            <a:ext cx="12119967" cy="8360856"/>
            <a:chOff x="-1362641" y="-2008234"/>
            <a:chExt cx="12119967" cy="8360856"/>
          </a:xfrm>
        </p:grpSpPr>
        <p:sp>
          <p:nvSpPr>
            <p:cNvPr id="411" name="Google Shape;411;p49"/>
            <p:cNvSpPr/>
            <p:nvPr/>
          </p:nvSpPr>
          <p:spPr>
            <a:xfrm flipH="1">
              <a:off x="3871509" y="4600922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2" name="Google Shape;412;p49"/>
            <p:cNvSpPr/>
            <p:nvPr/>
          </p:nvSpPr>
          <p:spPr>
            <a:xfrm>
              <a:off x="8104726" y="-2008234"/>
              <a:ext cx="2652600" cy="2637300"/>
            </a:xfrm>
            <a:prstGeom prst="ellipse">
              <a:avLst/>
            </a:prstGeom>
            <a:solidFill>
              <a:srgbClr val="FFFFFF">
                <a:alpha val="3529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3" name="Google Shape;413;p49"/>
            <p:cNvSpPr/>
            <p:nvPr/>
          </p:nvSpPr>
          <p:spPr>
            <a:xfrm rot="5400000">
              <a:off x="-1370291" y="-1759317"/>
              <a:ext cx="2652600" cy="2637300"/>
            </a:xfrm>
            <a:prstGeom prst="ellipse">
              <a:avLst/>
            </a:prstGeom>
            <a:solidFill>
              <a:srgbClr val="FFFFFF">
                <a:alpha val="35294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4" name="Google Shape;414;p49"/>
          <p:cNvGrpSpPr/>
          <p:nvPr/>
        </p:nvGrpSpPr>
        <p:grpSpPr>
          <a:xfrm>
            <a:off x="-1467256" y="-1864985"/>
            <a:ext cx="12051124" cy="9104476"/>
            <a:chOff x="-1467257" y="-1864985"/>
            <a:chExt cx="12051125" cy="9104476"/>
          </a:xfrm>
        </p:grpSpPr>
        <p:grpSp>
          <p:nvGrpSpPr>
            <p:cNvPr id="415" name="Google Shape;415;p49"/>
            <p:cNvGrpSpPr/>
            <p:nvPr/>
          </p:nvGrpSpPr>
          <p:grpSpPr>
            <a:xfrm rot="-5400000">
              <a:off x="3200733" y="4663002"/>
              <a:ext cx="2575817" cy="2577160"/>
              <a:chOff x="1550275" y="1493275"/>
              <a:chExt cx="1582100" cy="1582925"/>
            </a:xfrm>
          </p:grpSpPr>
          <p:sp>
            <p:nvSpPr>
              <p:cNvPr id="416" name="Google Shape;416;p4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7" name="Google Shape;417;p4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8" name="Google Shape;418;p4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9" name="Google Shape;419;p4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0" name="Google Shape;420;p4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1" name="Google Shape;421;p4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2" name="Google Shape;422;p49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3" name="Google Shape;423;p49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4" name="Google Shape;424;p49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5" name="Google Shape;425;p4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6" name="Google Shape;426;p4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7" name="Google Shape;427;p4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8" name="Google Shape;428;p4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9" name="Google Shape;429;p4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30" name="Google Shape;430;p49"/>
            <p:cNvGrpSpPr/>
            <p:nvPr/>
          </p:nvGrpSpPr>
          <p:grpSpPr>
            <a:xfrm rot="-5400000" flipH="1">
              <a:off x="8007379" y="-1842806"/>
              <a:ext cx="2575817" cy="2577160"/>
              <a:chOff x="1550275" y="1493275"/>
              <a:chExt cx="1582100" cy="1582925"/>
            </a:xfrm>
          </p:grpSpPr>
          <p:sp>
            <p:nvSpPr>
              <p:cNvPr id="431" name="Google Shape;431;p4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2" name="Google Shape;432;p4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3" name="Google Shape;433;p4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4" name="Google Shape;434;p4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5" name="Google Shape;435;p4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6" name="Google Shape;436;p4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7" name="Google Shape;437;p49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8" name="Google Shape;438;p49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9" name="Google Shape;439;p49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0" name="Google Shape;440;p4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1" name="Google Shape;441;p4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2" name="Google Shape;442;p4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3" name="Google Shape;443;p4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4" name="Google Shape;444;p4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45" name="Google Shape;445;p49"/>
            <p:cNvGrpSpPr/>
            <p:nvPr/>
          </p:nvGrpSpPr>
          <p:grpSpPr>
            <a:xfrm flipH="1">
              <a:off x="-1467257" y="-1864985"/>
              <a:ext cx="2575817" cy="2577160"/>
              <a:chOff x="1550275" y="1493275"/>
              <a:chExt cx="1582100" cy="1582925"/>
            </a:xfrm>
          </p:grpSpPr>
          <p:sp>
            <p:nvSpPr>
              <p:cNvPr id="446" name="Google Shape;446;p4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7" name="Google Shape;447;p4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8" name="Google Shape;448;p4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9" name="Google Shape;449;p4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0" name="Google Shape;450;p4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1" name="Google Shape;451;p4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2" name="Google Shape;452;p49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3" name="Google Shape;453;p49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4" name="Google Shape;454;p49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5" name="Google Shape;455;p4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6" name="Google Shape;456;p4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7" name="Google Shape;457;p4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8" name="Google Shape;458;p4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9" name="Google Shape;459;p4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  <p:transition spd="slow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 spd="slow">
    <p:wipe dir="r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2"/>
          <p:cNvSpPr txBox="1">
            <a:spLocks noGrp="1"/>
          </p:cNvSpPr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136" name="Google Shape;136;p42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3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transition spd="slow">
    <p:wipe dir="r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7FA5E-2675-0BB0-E8BD-6C6781CA39C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38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Google Shape;465;p1">
            <a:extLst>
              <a:ext uri="{FF2B5EF4-FFF2-40B4-BE49-F238E27FC236}">
                <a16:creationId xmlns:a16="http://schemas.microsoft.com/office/drawing/2014/main" id="{3FF02B32-5C01-0CD4-429C-2BAA2A03EEE5}"/>
              </a:ext>
            </a:extLst>
          </p:cNvPr>
          <p:cNvSpPr txBox="1">
            <a:spLocks/>
          </p:cNvSpPr>
          <p:nvPr/>
        </p:nvSpPr>
        <p:spPr>
          <a:xfrm>
            <a:off x="367988" y="565432"/>
            <a:ext cx="8408024" cy="13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bg1"/>
                </a:solidFill>
              </a:rPr>
              <a:t>A MODEL SOLID WASTE MANAGEMENT SYSTEM AT COMMUNITY LEVEL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Google Shape;466;p1">
            <a:extLst>
              <a:ext uri="{FF2B5EF4-FFF2-40B4-BE49-F238E27FC236}">
                <a16:creationId xmlns:a16="http://schemas.microsoft.com/office/drawing/2014/main" id="{667C874A-F99A-14FA-7C20-F6C762302C2B}"/>
              </a:ext>
            </a:extLst>
          </p:cNvPr>
          <p:cNvSpPr txBox="1"/>
          <p:nvPr/>
        </p:nvSpPr>
        <p:spPr>
          <a:xfrm>
            <a:off x="6584622" y="6777"/>
            <a:ext cx="2548128" cy="400110"/>
          </a:xfrm>
          <a:prstGeom prst="rect">
            <a:avLst/>
          </a:prstGeom>
          <a:solidFill>
            <a:srgbClr val="428CC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GROUP 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468;p1">
            <a:extLst>
              <a:ext uri="{FF2B5EF4-FFF2-40B4-BE49-F238E27FC236}">
                <a16:creationId xmlns:a16="http://schemas.microsoft.com/office/drawing/2014/main" id="{3AB69F22-92DE-D88B-E851-C3A8D9D894C0}"/>
              </a:ext>
            </a:extLst>
          </p:cNvPr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469;p1">
            <a:extLst>
              <a:ext uri="{FF2B5EF4-FFF2-40B4-BE49-F238E27FC236}">
                <a16:creationId xmlns:a16="http://schemas.microsoft.com/office/drawing/2014/main" id="{B4E575FC-9C26-7AD0-E773-99F3910E84AB}"/>
              </a:ext>
            </a:extLst>
          </p:cNvPr>
          <p:cNvSpPr/>
          <p:nvPr/>
        </p:nvSpPr>
        <p:spPr>
          <a:xfrm>
            <a:off x="5600077" y="2297701"/>
            <a:ext cx="3450900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CE 404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dirty="0">
                <a:solidFill>
                  <a:schemeClr val="bg1"/>
                </a:solidFill>
              </a:rPr>
              <a:t>Capstone Project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18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Presented By                  </a:t>
            </a:r>
            <a:endParaRPr lang="en-US" sz="12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1904070 Humaira Jannat Taki (DTL)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1904072 Shahriare Mahmud Sakib (TL)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1904075 Muaz Hossain Mahi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1904076 Fahim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Zafri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1904080 Md. Ausaf Alam 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1904082 Akash Saha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826;p14">
            <a:extLst>
              <a:ext uri="{FF2B5EF4-FFF2-40B4-BE49-F238E27FC236}">
                <a16:creationId xmlns:a16="http://schemas.microsoft.com/office/drawing/2014/main" id="{FB7DCB67-298B-34C9-0FEB-557F308F4386}"/>
              </a:ext>
            </a:extLst>
          </p:cNvPr>
          <p:cNvPicPr preferRelativeResize="0"/>
          <p:nvPr/>
        </p:nvPicPr>
        <p:blipFill rotWithShape="1">
          <a:blip r:embed="rId2"/>
          <a:srcRect t="345" b="2354"/>
          <a:stretch/>
        </p:blipFill>
        <p:spPr>
          <a:xfrm>
            <a:off x="293911" y="1980417"/>
            <a:ext cx="4415885" cy="297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70C42F25-C0A9-2B87-309A-14BDE8A84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005563" y="1880881"/>
            <a:ext cx="1501492" cy="150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8443878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"/>
          <p:cNvSpPr txBox="1"/>
          <p:nvPr/>
        </p:nvSpPr>
        <p:spPr>
          <a:xfrm>
            <a:off x="341031" y="1275750"/>
            <a:ext cx="896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Rapid population growth in Dhaka has overwhelmed the current solid waste management system.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❑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infrastructure is unsustainable, causing pollution, land wastage, and inconvenience to city life.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"/>
          <p:cNvSpPr txBox="1"/>
          <p:nvPr/>
        </p:nvSpPr>
        <p:spPr>
          <a:xfrm>
            <a:off x="835306" y="2112177"/>
            <a:ext cx="67523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redeveloped Secondary Waste Transfer Station will enable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6" name="Google Shape;476;p2"/>
          <p:cNvGrpSpPr/>
          <p:nvPr/>
        </p:nvGrpSpPr>
        <p:grpSpPr>
          <a:xfrm>
            <a:off x="835306" y="2538240"/>
            <a:ext cx="7060576" cy="2455500"/>
            <a:chOff x="1094300" y="2045095"/>
            <a:chExt cx="7408145" cy="2815390"/>
          </a:xfrm>
        </p:grpSpPr>
        <p:sp>
          <p:nvSpPr>
            <p:cNvPr id="477" name="Google Shape;477;p2"/>
            <p:cNvSpPr/>
            <p:nvPr/>
          </p:nvSpPr>
          <p:spPr>
            <a:xfrm>
              <a:off x="2220800" y="3891185"/>
              <a:ext cx="63300" cy="357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3768925" y="2658985"/>
              <a:ext cx="63300" cy="357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5313088" y="3891185"/>
              <a:ext cx="63300" cy="357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6857475" y="2658985"/>
              <a:ext cx="63300" cy="357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"/>
            <p:cNvSpPr txBox="1"/>
            <p:nvPr/>
          </p:nvSpPr>
          <p:spPr>
            <a:xfrm>
              <a:off x="1094300" y="4233470"/>
              <a:ext cx="2253000" cy="6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Doorstep segregated waste collection</a:t>
              </a:r>
              <a:endPara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2" name="Google Shape;482;p2"/>
            <p:cNvSpPr txBox="1"/>
            <p:nvPr/>
          </p:nvSpPr>
          <p:spPr>
            <a:xfrm>
              <a:off x="2677972" y="2100821"/>
              <a:ext cx="2639027" cy="6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-US"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Efficient waste compaction, segregation, and recycling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"/>
            <p:cNvSpPr txBox="1"/>
            <p:nvPr/>
          </p:nvSpPr>
          <p:spPr>
            <a:xfrm>
              <a:off x="4186588" y="4248185"/>
              <a:ext cx="2253000" cy="6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-US"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Better waste transport systems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"/>
            <p:cNvSpPr txBox="1"/>
            <p:nvPr/>
          </p:nvSpPr>
          <p:spPr>
            <a:xfrm>
              <a:off x="5762189" y="2045095"/>
              <a:ext cx="2740256" cy="6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1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-US"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Reduction in environmental pollution and resource wastage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6046884" y="3477935"/>
              <a:ext cx="1683611" cy="841978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3" y="1075"/>
                    <a:pt x="327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6132" y="3951"/>
                    <a:pt x="7903" y="2178"/>
                    <a:pt x="7903" y="0"/>
                  </a:cubicBezTo>
                  <a:lnTo>
                    <a:pt x="7248" y="0"/>
                  </a:lnTo>
                  <a:cubicBezTo>
                    <a:pt x="7248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4503254" y="2660361"/>
              <a:ext cx="1683185" cy="841978"/>
            </a:xfrm>
            <a:custGeom>
              <a:avLst/>
              <a:gdLst/>
              <a:ahLst/>
              <a:cxnLst/>
              <a:rect l="l" t="t" r="r" b="b"/>
              <a:pathLst>
                <a:path w="7902" h="3951" extrusionOk="0">
                  <a:moveTo>
                    <a:pt x="3951" y="0"/>
                  </a:moveTo>
                  <a:cubicBezTo>
                    <a:pt x="2330" y="0"/>
                    <a:pt x="935" y="982"/>
                    <a:pt x="327" y="2380"/>
                  </a:cubicBezTo>
                  <a:cubicBezTo>
                    <a:pt x="111" y="2874"/>
                    <a:pt x="0" y="3409"/>
                    <a:pt x="0" y="3951"/>
                  </a:cubicBezTo>
                  <a:lnTo>
                    <a:pt x="653" y="3951"/>
                  </a:lnTo>
                  <a:cubicBezTo>
                    <a:pt x="653" y="2135"/>
                    <a:pt x="2133" y="657"/>
                    <a:pt x="3951" y="657"/>
                  </a:cubicBezTo>
                  <a:cubicBezTo>
                    <a:pt x="5767" y="657"/>
                    <a:pt x="7246" y="2135"/>
                    <a:pt x="7246" y="3951"/>
                  </a:cubicBezTo>
                  <a:lnTo>
                    <a:pt x="7901" y="3951"/>
                  </a:lnTo>
                  <a:cubicBezTo>
                    <a:pt x="7901" y="3411"/>
                    <a:pt x="7791" y="2876"/>
                    <a:pt x="7574" y="2381"/>
                  </a:cubicBezTo>
                  <a:cubicBezTo>
                    <a:pt x="6966" y="982"/>
                    <a:pt x="5571" y="0"/>
                    <a:pt x="39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1413013" y="2658974"/>
              <a:ext cx="1684889" cy="844748"/>
            </a:xfrm>
            <a:custGeom>
              <a:avLst/>
              <a:gdLst/>
              <a:ahLst/>
              <a:cxnLst/>
              <a:rect l="l" t="t" r="r" b="b"/>
              <a:pathLst>
                <a:path w="7910" h="3964" extrusionOk="0">
                  <a:moveTo>
                    <a:pt x="3958" y="0"/>
                  </a:moveTo>
                  <a:cubicBezTo>
                    <a:pt x="3954" y="0"/>
                    <a:pt x="3950" y="0"/>
                    <a:pt x="3946" y="0"/>
                  </a:cubicBezTo>
                  <a:cubicBezTo>
                    <a:pt x="1768" y="6"/>
                    <a:pt x="0" y="1784"/>
                    <a:pt x="6" y="3963"/>
                  </a:cubicBezTo>
                  <a:lnTo>
                    <a:pt x="661" y="3962"/>
                  </a:lnTo>
                  <a:cubicBezTo>
                    <a:pt x="657" y="2144"/>
                    <a:pt x="2131" y="661"/>
                    <a:pt x="3947" y="655"/>
                  </a:cubicBezTo>
                  <a:cubicBezTo>
                    <a:pt x="3951" y="655"/>
                    <a:pt x="3955" y="655"/>
                    <a:pt x="3959" y="655"/>
                  </a:cubicBezTo>
                  <a:cubicBezTo>
                    <a:pt x="5771" y="655"/>
                    <a:pt x="7248" y="2127"/>
                    <a:pt x="7254" y="3939"/>
                  </a:cubicBezTo>
                  <a:lnTo>
                    <a:pt x="7256" y="3939"/>
                  </a:lnTo>
                  <a:lnTo>
                    <a:pt x="7909" y="3938"/>
                  </a:lnTo>
                  <a:cubicBezTo>
                    <a:pt x="7907" y="3398"/>
                    <a:pt x="7795" y="2863"/>
                    <a:pt x="7578" y="2368"/>
                  </a:cubicBezTo>
                  <a:cubicBezTo>
                    <a:pt x="6966" y="976"/>
                    <a:pt x="5573" y="0"/>
                    <a:pt x="39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958986" y="3477929"/>
              <a:ext cx="1683611" cy="841978"/>
            </a:xfrm>
            <a:custGeom>
              <a:avLst/>
              <a:gdLst/>
              <a:ahLst/>
              <a:cxnLst/>
              <a:rect l="l" t="t" r="r" b="b"/>
              <a:pathLst>
                <a:path w="7904" h="3951" extrusionOk="0">
                  <a:moveTo>
                    <a:pt x="1" y="0"/>
                  </a:moveTo>
                  <a:cubicBezTo>
                    <a:pt x="1" y="540"/>
                    <a:pt x="111" y="1075"/>
                    <a:pt x="328" y="1571"/>
                  </a:cubicBezTo>
                  <a:cubicBezTo>
                    <a:pt x="938" y="2971"/>
                    <a:pt x="2332" y="3951"/>
                    <a:pt x="3953" y="3951"/>
                  </a:cubicBezTo>
                  <a:cubicBezTo>
                    <a:pt x="5574" y="3951"/>
                    <a:pt x="6967" y="2971"/>
                    <a:pt x="7575" y="1573"/>
                  </a:cubicBezTo>
                  <a:cubicBezTo>
                    <a:pt x="7791" y="1076"/>
                    <a:pt x="7903" y="541"/>
                    <a:pt x="7903" y="0"/>
                  </a:cubicBezTo>
                  <a:lnTo>
                    <a:pt x="7249" y="0"/>
                  </a:lnTo>
                  <a:cubicBezTo>
                    <a:pt x="7249" y="1818"/>
                    <a:pt x="5770" y="3296"/>
                    <a:pt x="3953" y="3296"/>
                  </a:cubicBezTo>
                  <a:cubicBezTo>
                    <a:pt x="2135" y="3296"/>
                    <a:pt x="657" y="1818"/>
                    <a:pt x="6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1678388" y="2923369"/>
              <a:ext cx="1154100" cy="115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3223511" y="2923369"/>
              <a:ext cx="1154100" cy="115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4767658" y="2923369"/>
              <a:ext cx="1154100" cy="115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6312057" y="2923369"/>
              <a:ext cx="1154100" cy="1154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"/>
            <p:cNvSpPr txBox="1"/>
            <p:nvPr/>
          </p:nvSpPr>
          <p:spPr>
            <a:xfrm>
              <a:off x="1672396" y="3321910"/>
              <a:ext cx="11601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endParaRPr sz="2500" b="1" i="0" u="none" strike="noStrike" cap="non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494" name="Google Shape;494;p2"/>
            <p:cNvSpPr txBox="1"/>
            <p:nvPr/>
          </p:nvSpPr>
          <p:spPr>
            <a:xfrm>
              <a:off x="4764684" y="3321910"/>
              <a:ext cx="11601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endParaRPr sz="2500" b="1" i="0" u="none" strike="noStrike" cap="non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grpSp>
          <p:nvGrpSpPr>
            <p:cNvPr id="495" name="Google Shape;495;p2"/>
            <p:cNvGrpSpPr/>
            <p:nvPr/>
          </p:nvGrpSpPr>
          <p:grpSpPr>
            <a:xfrm>
              <a:off x="3653000" y="3339639"/>
              <a:ext cx="340573" cy="339271"/>
              <a:chOff x="2085450" y="842250"/>
              <a:chExt cx="483700" cy="481850"/>
            </a:xfrm>
          </p:grpSpPr>
          <p:sp>
            <p:nvSpPr>
              <p:cNvPr id="496" name="Google Shape;496;p2"/>
              <p:cNvSpPr/>
              <p:nvPr/>
            </p:nvSpPr>
            <p:spPr>
              <a:xfrm>
                <a:off x="2085525" y="926925"/>
                <a:ext cx="483625" cy="397175"/>
              </a:xfrm>
              <a:custGeom>
                <a:avLst/>
                <a:gdLst/>
                <a:ahLst/>
                <a:cxnLst/>
                <a:rect l="l" t="t" r="r" b="b"/>
                <a:pathLst>
                  <a:path w="19345" h="15887" extrusionOk="0">
                    <a:moveTo>
                      <a:pt x="1693" y="1"/>
                    </a:moveTo>
                    <a:cubicBezTo>
                      <a:pt x="756" y="1"/>
                      <a:pt x="0" y="760"/>
                      <a:pt x="0" y="1696"/>
                    </a:cubicBezTo>
                    <a:cubicBezTo>
                      <a:pt x="0" y="2630"/>
                      <a:pt x="756" y="3389"/>
                      <a:pt x="1693" y="3389"/>
                    </a:cubicBezTo>
                    <a:lnTo>
                      <a:pt x="3990" y="3389"/>
                    </a:lnTo>
                    <a:cubicBezTo>
                      <a:pt x="4924" y="3389"/>
                      <a:pt x="5683" y="4147"/>
                      <a:pt x="5683" y="5084"/>
                    </a:cubicBezTo>
                    <a:lnTo>
                      <a:pt x="5683" y="8547"/>
                    </a:lnTo>
                    <a:cubicBezTo>
                      <a:pt x="5683" y="11347"/>
                      <a:pt x="7962" y="13627"/>
                      <a:pt x="10766" y="13627"/>
                    </a:cubicBezTo>
                    <a:lnTo>
                      <a:pt x="13626" y="13627"/>
                    </a:lnTo>
                    <a:lnTo>
                      <a:pt x="13626" y="15322"/>
                    </a:lnTo>
                    <a:cubicBezTo>
                      <a:pt x="13626" y="15656"/>
                      <a:pt x="13901" y="15887"/>
                      <a:pt x="14194" y="15887"/>
                    </a:cubicBezTo>
                    <a:cubicBezTo>
                      <a:pt x="14308" y="15887"/>
                      <a:pt x="14425" y="15852"/>
                      <a:pt x="14530" y="15774"/>
                    </a:cubicBezTo>
                    <a:lnTo>
                      <a:pt x="19046" y="12386"/>
                    </a:lnTo>
                    <a:cubicBezTo>
                      <a:pt x="19345" y="12160"/>
                      <a:pt x="19345" y="11706"/>
                      <a:pt x="19046" y="11483"/>
                    </a:cubicBezTo>
                    <a:lnTo>
                      <a:pt x="14530" y="8095"/>
                    </a:lnTo>
                    <a:cubicBezTo>
                      <a:pt x="14424" y="8016"/>
                      <a:pt x="14307" y="7981"/>
                      <a:pt x="14192" y="7981"/>
                    </a:cubicBezTo>
                    <a:cubicBezTo>
                      <a:pt x="13899" y="7981"/>
                      <a:pt x="13626" y="8212"/>
                      <a:pt x="13626" y="8547"/>
                    </a:cubicBezTo>
                    <a:lnTo>
                      <a:pt x="13626" y="10239"/>
                    </a:lnTo>
                    <a:lnTo>
                      <a:pt x="10766" y="10239"/>
                    </a:lnTo>
                    <a:cubicBezTo>
                      <a:pt x="9829" y="10239"/>
                      <a:pt x="9070" y="9480"/>
                      <a:pt x="9070" y="8547"/>
                    </a:cubicBezTo>
                    <a:lnTo>
                      <a:pt x="9070" y="5084"/>
                    </a:lnTo>
                    <a:cubicBezTo>
                      <a:pt x="9070" y="2280"/>
                      <a:pt x="6791" y="1"/>
                      <a:pt x="3990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2"/>
              <p:cNvSpPr/>
              <p:nvPr/>
            </p:nvSpPr>
            <p:spPr>
              <a:xfrm>
                <a:off x="2085450" y="1151875"/>
                <a:ext cx="143650" cy="87575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3503" extrusionOk="0">
                    <a:moveTo>
                      <a:pt x="4577" y="1"/>
                    </a:moveTo>
                    <a:cubicBezTo>
                      <a:pt x="4391" y="73"/>
                      <a:pt x="4192" y="112"/>
                      <a:pt x="3990" y="115"/>
                    </a:cubicBezTo>
                    <a:lnTo>
                      <a:pt x="1693" y="115"/>
                    </a:lnTo>
                    <a:cubicBezTo>
                      <a:pt x="759" y="115"/>
                      <a:pt x="0" y="871"/>
                      <a:pt x="0" y="1807"/>
                    </a:cubicBezTo>
                    <a:cubicBezTo>
                      <a:pt x="0" y="2744"/>
                      <a:pt x="759" y="3503"/>
                      <a:pt x="1693" y="3503"/>
                    </a:cubicBezTo>
                    <a:lnTo>
                      <a:pt x="1696" y="3500"/>
                    </a:lnTo>
                    <a:lnTo>
                      <a:pt x="3993" y="3500"/>
                    </a:lnTo>
                    <a:cubicBezTo>
                      <a:pt x="4589" y="3500"/>
                      <a:pt x="5183" y="3391"/>
                      <a:pt x="5746" y="3186"/>
                    </a:cubicBezTo>
                    <a:cubicBezTo>
                      <a:pt x="5065" y="2253"/>
                      <a:pt x="4662" y="1151"/>
                      <a:pt x="4577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2"/>
              <p:cNvSpPr/>
              <p:nvPr/>
            </p:nvSpPr>
            <p:spPr>
              <a:xfrm>
                <a:off x="2274775" y="842250"/>
                <a:ext cx="294375" cy="197650"/>
              </a:xfrm>
              <a:custGeom>
                <a:avLst/>
                <a:gdLst/>
                <a:ahLst/>
                <a:cxnLst/>
                <a:rect l="l" t="t" r="r" b="b"/>
                <a:pathLst>
                  <a:path w="11775" h="7906" extrusionOk="0">
                    <a:moveTo>
                      <a:pt x="6622" y="0"/>
                    </a:moveTo>
                    <a:cubicBezTo>
                      <a:pt x="6329" y="0"/>
                      <a:pt x="6056" y="231"/>
                      <a:pt x="6056" y="566"/>
                    </a:cubicBezTo>
                    <a:lnTo>
                      <a:pt x="6056" y="2259"/>
                    </a:lnTo>
                    <a:lnTo>
                      <a:pt x="3196" y="2259"/>
                    </a:lnTo>
                    <a:cubicBezTo>
                      <a:pt x="2030" y="2265"/>
                      <a:pt x="904" y="2668"/>
                      <a:pt x="1" y="3406"/>
                    </a:cubicBezTo>
                    <a:cubicBezTo>
                      <a:pt x="940" y="4068"/>
                      <a:pt x="1675" y="4978"/>
                      <a:pt x="2130" y="6032"/>
                    </a:cubicBezTo>
                    <a:cubicBezTo>
                      <a:pt x="2431" y="5785"/>
                      <a:pt x="2804" y="5649"/>
                      <a:pt x="3196" y="5646"/>
                    </a:cubicBezTo>
                    <a:lnTo>
                      <a:pt x="6056" y="5646"/>
                    </a:lnTo>
                    <a:lnTo>
                      <a:pt x="6056" y="7342"/>
                    </a:lnTo>
                    <a:cubicBezTo>
                      <a:pt x="6056" y="7679"/>
                      <a:pt x="6334" y="7906"/>
                      <a:pt x="6625" y="7906"/>
                    </a:cubicBezTo>
                    <a:cubicBezTo>
                      <a:pt x="6740" y="7906"/>
                      <a:pt x="6857" y="7871"/>
                      <a:pt x="6960" y="7793"/>
                    </a:cubicBezTo>
                    <a:lnTo>
                      <a:pt x="11476" y="4406"/>
                    </a:lnTo>
                    <a:cubicBezTo>
                      <a:pt x="11775" y="4180"/>
                      <a:pt x="11775" y="3725"/>
                      <a:pt x="11476" y="3502"/>
                    </a:cubicBezTo>
                    <a:lnTo>
                      <a:pt x="6960" y="115"/>
                    </a:lnTo>
                    <a:cubicBezTo>
                      <a:pt x="6854" y="36"/>
                      <a:pt x="6737" y="0"/>
                      <a:pt x="6622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9" name="Google Shape;499;p2"/>
            <p:cNvGrpSpPr/>
            <p:nvPr/>
          </p:nvGrpSpPr>
          <p:grpSpPr>
            <a:xfrm>
              <a:off x="5157072" y="3339639"/>
              <a:ext cx="340573" cy="339271"/>
              <a:chOff x="2085450" y="842250"/>
              <a:chExt cx="483700" cy="481850"/>
            </a:xfrm>
          </p:grpSpPr>
          <p:sp>
            <p:nvSpPr>
              <p:cNvPr id="500" name="Google Shape;500;p2"/>
              <p:cNvSpPr/>
              <p:nvPr/>
            </p:nvSpPr>
            <p:spPr>
              <a:xfrm>
                <a:off x="2085525" y="926925"/>
                <a:ext cx="483625" cy="397175"/>
              </a:xfrm>
              <a:custGeom>
                <a:avLst/>
                <a:gdLst/>
                <a:ahLst/>
                <a:cxnLst/>
                <a:rect l="l" t="t" r="r" b="b"/>
                <a:pathLst>
                  <a:path w="19345" h="15887" extrusionOk="0">
                    <a:moveTo>
                      <a:pt x="1693" y="1"/>
                    </a:moveTo>
                    <a:cubicBezTo>
                      <a:pt x="756" y="1"/>
                      <a:pt x="0" y="760"/>
                      <a:pt x="0" y="1696"/>
                    </a:cubicBezTo>
                    <a:cubicBezTo>
                      <a:pt x="0" y="2630"/>
                      <a:pt x="756" y="3389"/>
                      <a:pt x="1693" y="3389"/>
                    </a:cubicBezTo>
                    <a:lnTo>
                      <a:pt x="3990" y="3389"/>
                    </a:lnTo>
                    <a:cubicBezTo>
                      <a:pt x="4924" y="3389"/>
                      <a:pt x="5683" y="4147"/>
                      <a:pt x="5683" y="5084"/>
                    </a:cubicBezTo>
                    <a:lnTo>
                      <a:pt x="5683" y="8547"/>
                    </a:lnTo>
                    <a:cubicBezTo>
                      <a:pt x="5683" y="11347"/>
                      <a:pt x="7962" y="13627"/>
                      <a:pt x="10766" y="13627"/>
                    </a:cubicBezTo>
                    <a:lnTo>
                      <a:pt x="13626" y="13627"/>
                    </a:lnTo>
                    <a:lnTo>
                      <a:pt x="13626" y="15322"/>
                    </a:lnTo>
                    <a:cubicBezTo>
                      <a:pt x="13626" y="15656"/>
                      <a:pt x="13901" y="15887"/>
                      <a:pt x="14194" y="15887"/>
                    </a:cubicBezTo>
                    <a:cubicBezTo>
                      <a:pt x="14308" y="15887"/>
                      <a:pt x="14425" y="15852"/>
                      <a:pt x="14530" y="15774"/>
                    </a:cubicBezTo>
                    <a:lnTo>
                      <a:pt x="19046" y="12386"/>
                    </a:lnTo>
                    <a:cubicBezTo>
                      <a:pt x="19345" y="12160"/>
                      <a:pt x="19345" y="11706"/>
                      <a:pt x="19046" y="11483"/>
                    </a:cubicBezTo>
                    <a:lnTo>
                      <a:pt x="14530" y="8095"/>
                    </a:lnTo>
                    <a:cubicBezTo>
                      <a:pt x="14424" y="8016"/>
                      <a:pt x="14307" y="7981"/>
                      <a:pt x="14192" y="7981"/>
                    </a:cubicBezTo>
                    <a:cubicBezTo>
                      <a:pt x="13899" y="7981"/>
                      <a:pt x="13626" y="8212"/>
                      <a:pt x="13626" y="8547"/>
                    </a:cubicBezTo>
                    <a:lnTo>
                      <a:pt x="13626" y="10239"/>
                    </a:lnTo>
                    <a:lnTo>
                      <a:pt x="10766" y="10239"/>
                    </a:lnTo>
                    <a:cubicBezTo>
                      <a:pt x="9829" y="10239"/>
                      <a:pt x="9070" y="9480"/>
                      <a:pt x="9070" y="8547"/>
                    </a:cubicBezTo>
                    <a:lnTo>
                      <a:pt x="9070" y="5084"/>
                    </a:lnTo>
                    <a:cubicBezTo>
                      <a:pt x="9070" y="2280"/>
                      <a:pt x="6791" y="1"/>
                      <a:pt x="3990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2"/>
              <p:cNvSpPr/>
              <p:nvPr/>
            </p:nvSpPr>
            <p:spPr>
              <a:xfrm>
                <a:off x="2085450" y="1151875"/>
                <a:ext cx="143650" cy="87575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3503" extrusionOk="0">
                    <a:moveTo>
                      <a:pt x="4577" y="1"/>
                    </a:moveTo>
                    <a:cubicBezTo>
                      <a:pt x="4391" y="73"/>
                      <a:pt x="4192" y="112"/>
                      <a:pt x="3990" y="115"/>
                    </a:cubicBezTo>
                    <a:lnTo>
                      <a:pt x="1693" y="115"/>
                    </a:lnTo>
                    <a:cubicBezTo>
                      <a:pt x="759" y="115"/>
                      <a:pt x="0" y="871"/>
                      <a:pt x="0" y="1807"/>
                    </a:cubicBezTo>
                    <a:cubicBezTo>
                      <a:pt x="0" y="2744"/>
                      <a:pt x="759" y="3503"/>
                      <a:pt x="1693" y="3503"/>
                    </a:cubicBezTo>
                    <a:lnTo>
                      <a:pt x="1696" y="3500"/>
                    </a:lnTo>
                    <a:lnTo>
                      <a:pt x="3993" y="3500"/>
                    </a:lnTo>
                    <a:cubicBezTo>
                      <a:pt x="4589" y="3500"/>
                      <a:pt x="5183" y="3391"/>
                      <a:pt x="5746" y="3186"/>
                    </a:cubicBezTo>
                    <a:cubicBezTo>
                      <a:pt x="5065" y="2253"/>
                      <a:pt x="4662" y="1151"/>
                      <a:pt x="4577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2"/>
              <p:cNvSpPr/>
              <p:nvPr/>
            </p:nvSpPr>
            <p:spPr>
              <a:xfrm>
                <a:off x="2274775" y="842250"/>
                <a:ext cx="294375" cy="197650"/>
              </a:xfrm>
              <a:custGeom>
                <a:avLst/>
                <a:gdLst/>
                <a:ahLst/>
                <a:cxnLst/>
                <a:rect l="l" t="t" r="r" b="b"/>
                <a:pathLst>
                  <a:path w="11775" h="7906" extrusionOk="0">
                    <a:moveTo>
                      <a:pt x="6622" y="0"/>
                    </a:moveTo>
                    <a:cubicBezTo>
                      <a:pt x="6329" y="0"/>
                      <a:pt x="6056" y="231"/>
                      <a:pt x="6056" y="566"/>
                    </a:cubicBezTo>
                    <a:lnTo>
                      <a:pt x="6056" y="2259"/>
                    </a:lnTo>
                    <a:lnTo>
                      <a:pt x="3196" y="2259"/>
                    </a:lnTo>
                    <a:cubicBezTo>
                      <a:pt x="2030" y="2265"/>
                      <a:pt x="904" y="2668"/>
                      <a:pt x="1" y="3406"/>
                    </a:cubicBezTo>
                    <a:cubicBezTo>
                      <a:pt x="940" y="4068"/>
                      <a:pt x="1675" y="4978"/>
                      <a:pt x="2130" y="6032"/>
                    </a:cubicBezTo>
                    <a:cubicBezTo>
                      <a:pt x="2431" y="5785"/>
                      <a:pt x="2804" y="5649"/>
                      <a:pt x="3196" y="5646"/>
                    </a:cubicBezTo>
                    <a:lnTo>
                      <a:pt x="6056" y="5646"/>
                    </a:lnTo>
                    <a:lnTo>
                      <a:pt x="6056" y="7342"/>
                    </a:lnTo>
                    <a:cubicBezTo>
                      <a:pt x="6056" y="7679"/>
                      <a:pt x="6334" y="7906"/>
                      <a:pt x="6625" y="7906"/>
                    </a:cubicBezTo>
                    <a:cubicBezTo>
                      <a:pt x="6740" y="7906"/>
                      <a:pt x="6857" y="7871"/>
                      <a:pt x="6960" y="7793"/>
                    </a:cubicBezTo>
                    <a:lnTo>
                      <a:pt x="11476" y="4406"/>
                    </a:lnTo>
                    <a:cubicBezTo>
                      <a:pt x="11775" y="4180"/>
                      <a:pt x="11775" y="3725"/>
                      <a:pt x="11476" y="3502"/>
                    </a:cubicBezTo>
                    <a:lnTo>
                      <a:pt x="6960" y="115"/>
                    </a:lnTo>
                    <a:cubicBezTo>
                      <a:pt x="6854" y="36"/>
                      <a:pt x="6737" y="0"/>
                      <a:pt x="6622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3" name="Google Shape;503;p2"/>
            <p:cNvGrpSpPr/>
            <p:nvPr/>
          </p:nvGrpSpPr>
          <p:grpSpPr>
            <a:xfrm>
              <a:off x="6661144" y="3339639"/>
              <a:ext cx="340573" cy="339271"/>
              <a:chOff x="2085450" y="842250"/>
              <a:chExt cx="483700" cy="481850"/>
            </a:xfrm>
          </p:grpSpPr>
          <p:sp>
            <p:nvSpPr>
              <p:cNvPr id="504" name="Google Shape;504;p2"/>
              <p:cNvSpPr/>
              <p:nvPr/>
            </p:nvSpPr>
            <p:spPr>
              <a:xfrm>
                <a:off x="2085525" y="926925"/>
                <a:ext cx="483625" cy="397175"/>
              </a:xfrm>
              <a:custGeom>
                <a:avLst/>
                <a:gdLst/>
                <a:ahLst/>
                <a:cxnLst/>
                <a:rect l="l" t="t" r="r" b="b"/>
                <a:pathLst>
                  <a:path w="19345" h="15887" extrusionOk="0">
                    <a:moveTo>
                      <a:pt x="1693" y="1"/>
                    </a:moveTo>
                    <a:cubicBezTo>
                      <a:pt x="756" y="1"/>
                      <a:pt x="0" y="760"/>
                      <a:pt x="0" y="1696"/>
                    </a:cubicBezTo>
                    <a:cubicBezTo>
                      <a:pt x="0" y="2630"/>
                      <a:pt x="756" y="3389"/>
                      <a:pt x="1693" y="3389"/>
                    </a:cubicBezTo>
                    <a:lnTo>
                      <a:pt x="3990" y="3389"/>
                    </a:lnTo>
                    <a:cubicBezTo>
                      <a:pt x="4924" y="3389"/>
                      <a:pt x="5683" y="4147"/>
                      <a:pt x="5683" y="5084"/>
                    </a:cubicBezTo>
                    <a:lnTo>
                      <a:pt x="5683" y="8547"/>
                    </a:lnTo>
                    <a:cubicBezTo>
                      <a:pt x="5683" y="11347"/>
                      <a:pt x="7962" y="13627"/>
                      <a:pt x="10766" y="13627"/>
                    </a:cubicBezTo>
                    <a:lnTo>
                      <a:pt x="13626" y="13627"/>
                    </a:lnTo>
                    <a:lnTo>
                      <a:pt x="13626" y="15322"/>
                    </a:lnTo>
                    <a:cubicBezTo>
                      <a:pt x="13626" y="15656"/>
                      <a:pt x="13901" y="15887"/>
                      <a:pt x="14194" y="15887"/>
                    </a:cubicBezTo>
                    <a:cubicBezTo>
                      <a:pt x="14308" y="15887"/>
                      <a:pt x="14425" y="15852"/>
                      <a:pt x="14530" y="15774"/>
                    </a:cubicBezTo>
                    <a:lnTo>
                      <a:pt x="19046" y="12386"/>
                    </a:lnTo>
                    <a:cubicBezTo>
                      <a:pt x="19345" y="12160"/>
                      <a:pt x="19345" y="11706"/>
                      <a:pt x="19046" y="11483"/>
                    </a:cubicBezTo>
                    <a:lnTo>
                      <a:pt x="14530" y="8095"/>
                    </a:lnTo>
                    <a:cubicBezTo>
                      <a:pt x="14424" y="8016"/>
                      <a:pt x="14307" y="7981"/>
                      <a:pt x="14192" y="7981"/>
                    </a:cubicBezTo>
                    <a:cubicBezTo>
                      <a:pt x="13899" y="7981"/>
                      <a:pt x="13626" y="8212"/>
                      <a:pt x="13626" y="8547"/>
                    </a:cubicBezTo>
                    <a:lnTo>
                      <a:pt x="13626" y="10239"/>
                    </a:lnTo>
                    <a:lnTo>
                      <a:pt x="10766" y="10239"/>
                    </a:lnTo>
                    <a:cubicBezTo>
                      <a:pt x="9829" y="10239"/>
                      <a:pt x="9070" y="9480"/>
                      <a:pt x="9070" y="8547"/>
                    </a:cubicBezTo>
                    <a:lnTo>
                      <a:pt x="9070" y="5084"/>
                    </a:lnTo>
                    <a:cubicBezTo>
                      <a:pt x="9070" y="2280"/>
                      <a:pt x="6791" y="1"/>
                      <a:pt x="3990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2"/>
              <p:cNvSpPr/>
              <p:nvPr/>
            </p:nvSpPr>
            <p:spPr>
              <a:xfrm>
                <a:off x="2085450" y="1151875"/>
                <a:ext cx="143650" cy="87575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3503" extrusionOk="0">
                    <a:moveTo>
                      <a:pt x="4577" y="1"/>
                    </a:moveTo>
                    <a:cubicBezTo>
                      <a:pt x="4391" y="73"/>
                      <a:pt x="4192" y="112"/>
                      <a:pt x="3990" y="115"/>
                    </a:cubicBezTo>
                    <a:lnTo>
                      <a:pt x="1693" y="115"/>
                    </a:lnTo>
                    <a:cubicBezTo>
                      <a:pt x="759" y="115"/>
                      <a:pt x="0" y="871"/>
                      <a:pt x="0" y="1807"/>
                    </a:cubicBezTo>
                    <a:cubicBezTo>
                      <a:pt x="0" y="2744"/>
                      <a:pt x="759" y="3503"/>
                      <a:pt x="1693" y="3503"/>
                    </a:cubicBezTo>
                    <a:lnTo>
                      <a:pt x="1696" y="3500"/>
                    </a:lnTo>
                    <a:lnTo>
                      <a:pt x="3993" y="3500"/>
                    </a:lnTo>
                    <a:cubicBezTo>
                      <a:pt x="4589" y="3500"/>
                      <a:pt x="5183" y="3391"/>
                      <a:pt x="5746" y="3186"/>
                    </a:cubicBezTo>
                    <a:cubicBezTo>
                      <a:pt x="5065" y="2253"/>
                      <a:pt x="4662" y="1151"/>
                      <a:pt x="4577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2"/>
              <p:cNvSpPr/>
              <p:nvPr/>
            </p:nvSpPr>
            <p:spPr>
              <a:xfrm>
                <a:off x="2274775" y="842250"/>
                <a:ext cx="294375" cy="197650"/>
              </a:xfrm>
              <a:custGeom>
                <a:avLst/>
                <a:gdLst/>
                <a:ahLst/>
                <a:cxnLst/>
                <a:rect l="l" t="t" r="r" b="b"/>
                <a:pathLst>
                  <a:path w="11775" h="7906" extrusionOk="0">
                    <a:moveTo>
                      <a:pt x="6622" y="0"/>
                    </a:moveTo>
                    <a:cubicBezTo>
                      <a:pt x="6329" y="0"/>
                      <a:pt x="6056" y="231"/>
                      <a:pt x="6056" y="566"/>
                    </a:cubicBezTo>
                    <a:lnTo>
                      <a:pt x="6056" y="2259"/>
                    </a:lnTo>
                    <a:lnTo>
                      <a:pt x="3196" y="2259"/>
                    </a:lnTo>
                    <a:cubicBezTo>
                      <a:pt x="2030" y="2265"/>
                      <a:pt x="904" y="2668"/>
                      <a:pt x="1" y="3406"/>
                    </a:cubicBezTo>
                    <a:cubicBezTo>
                      <a:pt x="940" y="4068"/>
                      <a:pt x="1675" y="4978"/>
                      <a:pt x="2130" y="6032"/>
                    </a:cubicBezTo>
                    <a:cubicBezTo>
                      <a:pt x="2431" y="5785"/>
                      <a:pt x="2804" y="5649"/>
                      <a:pt x="3196" y="5646"/>
                    </a:cubicBezTo>
                    <a:lnTo>
                      <a:pt x="6056" y="5646"/>
                    </a:lnTo>
                    <a:lnTo>
                      <a:pt x="6056" y="7342"/>
                    </a:lnTo>
                    <a:cubicBezTo>
                      <a:pt x="6056" y="7679"/>
                      <a:pt x="6334" y="7906"/>
                      <a:pt x="6625" y="7906"/>
                    </a:cubicBezTo>
                    <a:cubicBezTo>
                      <a:pt x="6740" y="7906"/>
                      <a:pt x="6857" y="7871"/>
                      <a:pt x="6960" y="7793"/>
                    </a:cubicBezTo>
                    <a:lnTo>
                      <a:pt x="11476" y="4406"/>
                    </a:lnTo>
                    <a:cubicBezTo>
                      <a:pt x="11775" y="4180"/>
                      <a:pt x="11775" y="3725"/>
                      <a:pt x="11476" y="3502"/>
                    </a:cubicBezTo>
                    <a:lnTo>
                      <a:pt x="6960" y="115"/>
                    </a:lnTo>
                    <a:cubicBezTo>
                      <a:pt x="6854" y="36"/>
                      <a:pt x="6737" y="0"/>
                      <a:pt x="6622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7" name="Google Shape;507;p2"/>
            <p:cNvGrpSpPr/>
            <p:nvPr/>
          </p:nvGrpSpPr>
          <p:grpSpPr>
            <a:xfrm>
              <a:off x="2123077" y="3293608"/>
              <a:ext cx="340573" cy="339271"/>
              <a:chOff x="2085450" y="842250"/>
              <a:chExt cx="483700" cy="481850"/>
            </a:xfrm>
          </p:grpSpPr>
          <p:sp>
            <p:nvSpPr>
              <p:cNvPr id="508" name="Google Shape;508;p2"/>
              <p:cNvSpPr/>
              <p:nvPr/>
            </p:nvSpPr>
            <p:spPr>
              <a:xfrm>
                <a:off x="2085525" y="926925"/>
                <a:ext cx="483625" cy="397175"/>
              </a:xfrm>
              <a:custGeom>
                <a:avLst/>
                <a:gdLst/>
                <a:ahLst/>
                <a:cxnLst/>
                <a:rect l="l" t="t" r="r" b="b"/>
                <a:pathLst>
                  <a:path w="19345" h="15887" extrusionOk="0">
                    <a:moveTo>
                      <a:pt x="1693" y="1"/>
                    </a:moveTo>
                    <a:cubicBezTo>
                      <a:pt x="756" y="1"/>
                      <a:pt x="0" y="760"/>
                      <a:pt x="0" y="1696"/>
                    </a:cubicBezTo>
                    <a:cubicBezTo>
                      <a:pt x="0" y="2630"/>
                      <a:pt x="756" y="3389"/>
                      <a:pt x="1693" y="3389"/>
                    </a:cubicBezTo>
                    <a:lnTo>
                      <a:pt x="3990" y="3389"/>
                    </a:lnTo>
                    <a:cubicBezTo>
                      <a:pt x="4924" y="3389"/>
                      <a:pt x="5683" y="4147"/>
                      <a:pt x="5683" y="5084"/>
                    </a:cubicBezTo>
                    <a:lnTo>
                      <a:pt x="5683" y="8547"/>
                    </a:lnTo>
                    <a:cubicBezTo>
                      <a:pt x="5683" y="11347"/>
                      <a:pt x="7962" y="13627"/>
                      <a:pt x="10766" y="13627"/>
                    </a:cubicBezTo>
                    <a:lnTo>
                      <a:pt x="13626" y="13627"/>
                    </a:lnTo>
                    <a:lnTo>
                      <a:pt x="13626" y="15322"/>
                    </a:lnTo>
                    <a:cubicBezTo>
                      <a:pt x="13626" y="15656"/>
                      <a:pt x="13901" y="15887"/>
                      <a:pt x="14194" y="15887"/>
                    </a:cubicBezTo>
                    <a:cubicBezTo>
                      <a:pt x="14308" y="15887"/>
                      <a:pt x="14425" y="15852"/>
                      <a:pt x="14530" y="15774"/>
                    </a:cubicBezTo>
                    <a:lnTo>
                      <a:pt x="19046" y="12386"/>
                    </a:lnTo>
                    <a:cubicBezTo>
                      <a:pt x="19345" y="12160"/>
                      <a:pt x="19345" y="11706"/>
                      <a:pt x="19046" y="11483"/>
                    </a:cubicBezTo>
                    <a:lnTo>
                      <a:pt x="14530" y="8095"/>
                    </a:lnTo>
                    <a:cubicBezTo>
                      <a:pt x="14424" y="8016"/>
                      <a:pt x="14307" y="7981"/>
                      <a:pt x="14192" y="7981"/>
                    </a:cubicBezTo>
                    <a:cubicBezTo>
                      <a:pt x="13899" y="7981"/>
                      <a:pt x="13626" y="8212"/>
                      <a:pt x="13626" y="8547"/>
                    </a:cubicBezTo>
                    <a:lnTo>
                      <a:pt x="13626" y="10239"/>
                    </a:lnTo>
                    <a:lnTo>
                      <a:pt x="10766" y="10239"/>
                    </a:lnTo>
                    <a:cubicBezTo>
                      <a:pt x="9829" y="10239"/>
                      <a:pt x="9070" y="9480"/>
                      <a:pt x="9070" y="8547"/>
                    </a:cubicBezTo>
                    <a:lnTo>
                      <a:pt x="9070" y="5084"/>
                    </a:lnTo>
                    <a:cubicBezTo>
                      <a:pt x="9070" y="2280"/>
                      <a:pt x="6791" y="1"/>
                      <a:pt x="3990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2"/>
              <p:cNvSpPr/>
              <p:nvPr/>
            </p:nvSpPr>
            <p:spPr>
              <a:xfrm>
                <a:off x="2085450" y="1151875"/>
                <a:ext cx="143650" cy="87575"/>
              </a:xfrm>
              <a:custGeom>
                <a:avLst/>
                <a:gdLst/>
                <a:ahLst/>
                <a:cxnLst/>
                <a:rect l="l" t="t" r="r" b="b"/>
                <a:pathLst>
                  <a:path w="5746" h="3503" extrusionOk="0">
                    <a:moveTo>
                      <a:pt x="4577" y="1"/>
                    </a:moveTo>
                    <a:cubicBezTo>
                      <a:pt x="4391" y="73"/>
                      <a:pt x="4192" y="112"/>
                      <a:pt x="3990" y="115"/>
                    </a:cubicBezTo>
                    <a:lnTo>
                      <a:pt x="1693" y="115"/>
                    </a:lnTo>
                    <a:cubicBezTo>
                      <a:pt x="759" y="115"/>
                      <a:pt x="0" y="871"/>
                      <a:pt x="0" y="1807"/>
                    </a:cubicBezTo>
                    <a:cubicBezTo>
                      <a:pt x="0" y="2744"/>
                      <a:pt x="759" y="3503"/>
                      <a:pt x="1693" y="3503"/>
                    </a:cubicBezTo>
                    <a:lnTo>
                      <a:pt x="1696" y="3500"/>
                    </a:lnTo>
                    <a:lnTo>
                      <a:pt x="3993" y="3500"/>
                    </a:lnTo>
                    <a:cubicBezTo>
                      <a:pt x="4589" y="3500"/>
                      <a:pt x="5183" y="3391"/>
                      <a:pt x="5746" y="3186"/>
                    </a:cubicBezTo>
                    <a:cubicBezTo>
                      <a:pt x="5065" y="2253"/>
                      <a:pt x="4662" y="1151"/>
                      <a:pt x="4577" y="1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2"/>
              <p:cNvSpPr/>
              <p:nvPr/>
            </p:nvSpPr>
            <p:spPr>
              <a:xfrm>
                <a:off x="2274775" y="842250"/>
                <a:ext cx="294375" cy="197650"/>
              </a:xfrm>
              <a:custGeom>
                <a:avLst/>
                <a:gdLst/>
                <a:ahLst/>
                <a:cxnLst/>
                <a:rect l="l" t="t" r="r" b="b"/>
                <a:pathLst>
                  <a:path w="11775" h="7906" extrusionOk="0">
                    <a:moveTo>
                      <a:pt x="6622" y="0"/>
                    </a:moveTo>
                    <a:cubicBezTo>
                      <a:pt x="6329" y="0"/>
                      <a:pt x="6056" y="231"/>
                      <a:pt x="6056" y="566"/>
                    </a:cubicBezTo>
                    <a:lnTo>
                      <a:pt x="6056" y="2259"/>
                    </a:lnTo>
                    <a:lnTo>
                      <a:pt x="3196" y="2259"/>
                    </a:lnTo>
                    <a:cubicBezTo>
                      <a:pt x="2030" y="2265"/>
                      <a:pt x="904" y="2668"/>
                      <a:pt x="1" y="3406"/>
                    </a:cubicBezTo>
                    <a:cubicBezTo>
                      <a:pt x="940" y="4068"/>
                      <a:pt x="1675" y="4978"/>
                      <a:pt x="2130" y="6032"/>
                    </a:cubicBezTo>
                    <a:cubicBezTo>
                      <a:pt x="2431" y="5785"/>
                      <a:pt x="2804" y="5649"/>
                      <a:pt x="3196" y="5646"/>
                    </a:cubicBezTo>
                    <a:lnTo>
                      <a:pt x="6056" y="5646"/>
                    </a:lnTo>
                    <a:lnTo>
                      <a:pt x="6056" y="7342"/>
                    </a:lnTo>
                    <a:cubicBezTo>
                      <a:pt x="6056" y="7679"/>
                      <a:pt x="6334" y="7906"/>
                      <a:pt x="6625" y="7906"/>
                    </a:cubicBezTo>
                    <a:cubicBezTo>
                      <a:pt x="6740" y="7906"/>
                      <a:pt x="6857" y="7871"/>
                      <a:pt x="6960" y="7793"/>
                    </a:cubicBezTo>
                    <a:lnTo>
                      <a:pt x="11476" y="4406"/>
                    </a:lnTo>
                    <a:cubicBezTo>
                      <a:pt x="11775" y="4180"/>
                      <a:pt x="11775" y="3725"/>
                      <a:pt x="11476" y="3502"/>
                    </a:cubicBezTo>
                    <a:lnTo>
                      <a:pt x="6960" y="115"/>
                    </a:lnTo>
                    <a:cubicBezTo>
                      <a:pt x="6854" y="36"/>
                      <a:pt x="6737" y="0"/>
                      <a:pt x="6622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435D7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1" name="Google Shape;511;p2"/>
          <p:cNvSpPr txBox="1">
            <a:spLocks noGrp="1"/>
          </p:cNvSpPr>
          <p:nvPr>
            <p:ph type="title"/>
          </p:nvPr>
        </p:nvSpPr>
        <p:spPr>
          <a:xfrm>
            <a:off x="0" y="-5095"/>
            <a:ext cx="9144000" cy="479083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Background and Vision of the project</a:t>
            </a:r>
            <a:endParaRPr/>
          </a:p>
        </p:txBody>
      </p:sp>
      <p:pic>
        <p:nvPicPr>
          <p:cNvPr id="512" name="Google Shape;512;p2" descr="Presentation with bar chart RT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626" y="2101586"/>
            <a:ext cx="436654" cy="436654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"/>
          <p:cNvSpPr txBox="1"/>
          <p:nvPr/>
        </p:nvSpPr>
        <p:spPr>
          <a:xfrm>
            <a:off x="870036" y="740974"/>
            <a:ext cx="27538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of Statement 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4" name="Google Shape;51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037" y="699211"/>
            <a:ext cx="403376" cy="430162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"/>
          <p:cNvSpPr txBox="1"/>
          <p:nvPr/>
        </p:nvSpPr>
        <p:spPr>
          <a:xfrm>
            <a:off x="2560320" y="11495"/>
            <a:ext cx="4076700" cy="46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ncode Sans Semi Condensed"/>
              <a:buNone/>
            </a:pPr>
            <a:endParaRPr sz="3200" b="1" i="0" u="none" strike="noStrike" cap="none">
              <a:solidFill>
                <a:schemeClr val="lt1"/>
              </a:solidFill>
              <a:latin typeface="Encode Sans Semi Condensed"/>
              <a:ea typeface="Encode Sans Semi Condensed"/>
              <a:cs typeface="Encode Sans Semi Condensed"/>
              <a:sym typeface="Encode Sans Semi Condensed"/>
            </a:endParaRPr>
          </a:p>
        </p:txBody>
      </p:sp>
      <p:pic>
        <p:nvPicPr>
          <p:cNvPr id="521" name="Google Shape;52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94088" y="835043"/>
            <a:ext cx="2625700" cy="18158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2" name="Google Shape;522;p3"/>
          <p:cNvGrpSpPr/>
          <p:nvPr/>
        </p:nvGrpSpPr>
        <p:grpSpPr>
          <a:xfrm>
            <a:off x="4619800" y="835043"/>
            <a:ext cx="1664353" cy="1816978"/>
            <a:chOff x="676715" y="920911"/>
            <a:chExt cx="2664361" cy="3558024"/>
          </a:xfrm>
        </p:grpSpPr>
        <p:pic>
          <p:nvPicPr>
            <p:cNvPr id="523" name="Google Shape;523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76715" y="920911"/>
              <a:ext cx="2664361" cy="35580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3"/>
            <p:cNvSpPr/>
            <p:nvPr/>
          </p:nvSpPr>
          <p:spPr>
            <a:xfrm rot="-338995">
              <a:off x="1610945" y="1389608"/>
              <a:ext cx="1017197" cy="1723293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"/>
            <p:cNvSpPr txBox="1"/>
            <p:nvPr/>
          </p:nvSpPr>
          <p:spPr>
            <a:xfrm>
              <a:off x="676715" y="1449583"/>
              <a:ext cx="1181914" cy="5424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6" name="Google Shape;526;p3"/>
          <p:cNvSpPr txBox="1"/>
          <p:nvPr/>
        </p:nvSpPr>
        <p:spPr>
          <a:xfrm>
            <a:off x="1791225" y="2956475"/>
            <a:ext cx="7353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Figure:  Google Map: (a) Polashi Waste Transfer Station; (b)Disposal land, Matuali; (c) Effect of Present Solid Waste Management at Matuail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"/>
          <p:cNvSpPr txBox="1"/>
          <p:nvPr/>
        </p:nvSpPr>
        <p:spPr>
          <a:xfrm>
            <a:off x="5029659" y="2613204"/>
            <a:ext cx="4026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"/>
          <p:cNvSpPr txBox="1"/>
          <p:nvPr/>
        </p:nvSpPr>
        <p:spPr>
          <a:xfrm>
            <a:off x="7319658" y="2613204"/>
            <a:ext cx="3930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"/>
          <p:cNvSpPr/>
          <p:nvPr/>
        </p:nvSpPr>
        <p:spPr>
          <a:xfrm>
            <a:off x="55247" y="1125586"/>
            <a:ext cx="2245993" cy="12747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Background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"/>
          <p:cNvSpPr/>
          <p:nvPr/>
        </p:nvSpPr>
        <p:spPr>
          <a:xfrm flipH="1">
            <a:off x="5371554" y="3407463"/>
            <a:ext cx="2985717" cy="147890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Location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1" name="Google Shape;531;p3"/>
          <p:cNvGrpSpPr/>
          <p:nvPr/>
        </p:nvGrpSpPr>
        <p:grpSpPr>
          <a:xfrm>
            <a:off x="2329096" y="835043"/>
            <a:ext cx="2163938" cy="1819656"/>
            <a:chOff x="3028968" y="695548"/>
            <a:chExt cx="4584474" cy="3595097"/>
          </a:xfrm>
        </p:grpSpPr>
        <p:pic>
          <p:nvPicPr>
            <p:cNvPr id="532" name="Google Shape;532;p3"/>
            <p:cNvPicPr preferRelativeResize="0"/>
            <p:nvPr/>
          </p:nvPicPr>
          <p:blipFill rotWithShape="1">
            <a:blip r:embed="rId5">
              <a:alphaModFix/>
            </a:blip>
            <a:srcRect r="22766"/>
            <a:stretch/>
          </p:blipFill>
          <p:spPr>
            <a:xfrm>
              <a:off x="3028968" y="695548"/>
              <a:ext cx="4584474" cy="35950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3" name="Google Shape;533;p3"/>
            <p:cNvSpPr/>
            <p:nvPr/>
          </p:nvSpPr>
          <p:spPr>
            <a:xfrm rot="428280">
              <a:off x="4627038" y="2228775"/>
              <a:ext cx="1007130" cy="647114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"/>
            <p:cNvSpPr txBox="1"/>
            <p:nvPr/>
          </p:nvSpPr>
          <p:spPr>
            <a:xfrm rot="485633">
              <a:off x="3431761" y="1375764"/>
              <a:ext cx="1821872" cy="6080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5" name="Google Shape;535;p3"/>
          <p:cNvSpPr txBox="1"/>
          <p:nvPr/>
        </p:nvSpPr>
        <p:spPr>
          <a:xfrm>
            <a:off x="3063699" y="2613204"/>
            <a:ext cx="4026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"/>
          <p:cNvSpPr txBox="1">
            <a:spLocks noGrp="1"/>
          </p:cNvSpPr>
          <p:nvPr>
            <p:ph type="title"/>
          </p:nvPr>
        </p:nvSpPr>
        <p:spPr>
          <a:xfrm>
            <a:off x="0" y="-20379"/>
            <a:ext cx="9144000" cy="638638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Description &amp; Location</a:t>
            </a:r>
            <a:endParaRPr/>
          </a:p>
        </p:txBody>
      </p:sp>
      <p:sp>
        <p:nvSpPr>
          <p:cNvPr id="537" name="Google Shape;537;p3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8" name="Google Shape;538;p3" descr="Map with pin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7037" y="3610841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"/>
          <p:cNvSpPr txBox="1"/>
          <p:nvPr/>
        </p:nvSpPr>
        <p:spPr>
          <a:xfrm>
            <a:off x="1226734" y="3635299"/>
            <a:ext cx="4578926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Dhakeshwari Road,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Ward No. 26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Dhaka South City Corporation.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Latitude 23° 72' 42" and Longitude 90° 38' 86"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4"/>
          <p:cNvGrpSpPr/>
          <p:nvPr/>
        </p:nvGrpSpPr>
        <p:grpSpPr>
          <a:xfrm>
            <a:off x="419909" y="1178870"/>
            <a:ext cx="8304068" cy="1367188"/>
            <a:chOff x="3124" y="29578"/>
            <a:chExt cx="8304068" cy="1367188"/>
          </a:xfrm>
        </p:grpSpPr>
        <p:sp>
          <p:nvSpPr>
            <p:cNvPr id="545" name="Google Shape;545;p4"/>
            <p:cNvSpPr/>
            <p:nvPr/>
          </p:nvSpPr>
          <p:spPr>
            <a:xfrm>
              <a:off x="3124" y="29578"/>
              <a:ext cx="1878748" cy="62054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"/>
            <p:cNvSpPr txBox="1"/>
            <p:nvPr/>
          </p:nvSpPr>
          <p:spPr>
            <a:xfrm>
              <a:off x="3124" y="29578"/>
              <a:ext cx="1878748" cy="6205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900" tIns="69075" rIns="120900" bIns="69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Encode Sans Semi Condensed"/>
                  <a:ea typeface="Encode Sans Semi Condensed"/>
                  <a:cs typeface="Encode Sans Semi Condensed"/>
                  <a:sym typeface="Encode Sans Semi Condensed"/>
                </a:rPr>
                <a:t>Sponsoring Ministry</a:t>
              </a:r>
              <a:endParaRPr sz="1700" b="0" i="0" u="none" strike="noStrike" cap="none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endParaRPr>
            </a:p>
          </p:txBody>
        </p:sp>
        <p:sp>
          <p:nvSpPr>
            <p:cNvPr id="547" name="Google Shape;547;p4"/>
            <p:cNvSpPr/>
            <p:nvPr/>
          </p:nvSpPr>
          <p:spPr>
            <a:xfrm>
              <a:off x="3124" y="650127"/>
              <a:ext cx="1878748" cy="746639"/>
            </a:xfrm>
            <a:prstGeom prst="rect">
              <a:avLst/>
            </a:prstGeom>
            <a:solidFill>
              <a:srgbClr val="CDCFD3">
                <a:alpha val="89411"/>
              </a:srgbClr>
            </a:solidFill>
            <a:ln w="12700" cap="flat" cmpd="sng">
              <a:solidFill>
                <a:srgbClr val="CDCFD3">
                  <a:alpha val="89411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"/>
            <p:cNvSpPr txBox="1"/>
            <p:nvPr/>
          </p:nvSpPr>
          <p:spPr>
            <a:xfrm>
              <a:off x="3124" y="650127"/>
              <a:ext cx="1878748" cy="7466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675" tIns="90675" rIns="120900" bIns="136000" anchor="t" anchorCtr="0">
              <a:noAutofit/>
            </a:bodyPr>
            <a:lstStyle/>
            <a:p>
              <a:pPr marL="171450" marR="0" lvl="1" indent="-635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2144897" y="29578"/>
              <a:ext cx="1878748" cy="62054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"/>
            <p:cNvSpPr txBox="1"/>
            <p:nvPr/>
          </p:nvSpPr>
          <p:spPr>
            <a:xfrm>
              <a:off x="2144897" y="29578"/>
              <a:ext cx="1878748" cy="6205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900" tIns="69075" rIns="120900" bIns="69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Encode Sans Semi Condensed"/>
                  <a:ea typeface="Encode Sans Semi Condensed"/>
                  <a:cs typeface="Encode Sans Semi Condensed"/>
                  <a:sym typeface="Encode Sans Semi Condensed"/>
                </a:rPr>
                <a:t>Implementing Agency</a:t>
              </a:r>
              <a:endParaRPr sz="1700" b="0" i="0" u="none" strike="noStrike" cap="none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endParaRPr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2144897" y="650127"/>
              <a:ext cx="1878748" cy="746639"/>
            </a:xfrm>
            <a:prstGeom prst="rect">
              <a:avLst/>
            </a:prstGeom>
            <a:solidFill>
              <a:srgbClr val="CDCFD3">
                <a:alpha val="89411"/>
              </a:srgbClr>
            </a:solidFill>
            <a:ln w="12700" cap="flat" cmpd="sng">
              <a:solidFill>
                <a:srgbClr val="CDCFD3">
                  <a:alpha val="89411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"/>
            <p:cNvSpPr/>
            <p:nvPr/>
          </p:nvSpPr>
          <p:spPr>
            <a:xfrm>
              <a:off x="4286671" y="29578"/>
              <a:ext cx="1878748" cy="62054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"/>
            <p:cNvSpPr txBox="1"/>
            <p:nvPr/>
          </p:nvSpPr>
          <p:spPr>
            <a:xfrm>
              <a:off x="4286671" y="29578"/>
              <a:ext cx="1878748" cy="6205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900" tIns="69075" rIns="120900" bIns="69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Encode Sans Semi Condensed"/>
                  <a:ea typeface="Encode Sans Semi Condensed"/>
                  <a:cs typeface="Encode Sans Semi Condensed"/>
                  <a:sym typeface="Encode Sans Semi Condensed"/>
                </a:rPr>
                <a:t>Project Objective</a:t>
              </a:r>
              <a:endParaRPr sz="1700" b="0" i="0" u="none" strike="noStrike" cap="none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endParaRPr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4286671" y="650127"/>
              <a:ext cx="1878748" cy="746639"/>
            </a:xfrm>
            <a:prstGeom prst="rect">
              <a:avLst/>
            </a:prstGeom>
            <a:solidFill>
              <a:srgbClr val="CDCFD3">
                <a:alpha val="89411"/>
              </a:srgbClr>
            </a:solidFill>
            <a:ln w="12700" cap="flat" cmpd="sng">
              <a:solidFill>
                <a:srgbClr val="CDCFD3">
                  <a:alpha val="89411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"/>
            <p:cNvSpPr/>
            <p:nvPr/>
          </p:nvSpPr>
          <p:spPr>
            <a:xfrm>
              <a:off x="6428444" y="29578"/>
              <a:ext cx="1878748" cy="62054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"/>
            <p:cNvSpPr txBox="1"/>
            <p:nvPr/>
          </p:nvSpPr>
          <p:spPr>
            <a:xfrm>
              <a:off x="6428444" y="29578"/>
              <a:ext cx="1878748" cy="6205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900" tIns="69075" rIns="120900" bIns="690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Encode Sans Semi Condensed"/>
                  <a:ea typeface="Encode Sans Semi Condensed"/>
                  <a:cs typeface="Encode Sans Semi Condensed"/>
                  <a:sym typeface="Encode Sans Semi Condensed"/>
                </a:rPr>
                <a:t>Estimated Project Budget</a:t>
              </a:r>
              <a:endParaRPr sz="1700" b="0" i="0" u="none" strike="noStrike" cap="none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endParaRPr>
            </a:p>
          </p:txBody>
        </p:sp>
        <p:sp>
          <p:nvSpPr>
            <p:cNvPr id="557" name="Google Shape;557;p4"/>
            <p:cNvSpPr/>
            <p:nvPr/>
          </p:nvSpPr>
          <p:spPr>
            <a:xfrm>
              <a:off x="6428444" y="650127"/>
              <a:ext cx="1878748" cy="746639"/>
            </a:xfrm>
            <a:prstGeom prst="rect">
              <a:avLst/>
            </a:prstGeom>
            <a:solidFill>
              <a:srgbClr val="CDCFD3">
                <a:alpha val="89411"/>
              </a:srgbClr>
            </a:solidFill>
            <a:ln w="12700" cap="flat" cmpd="sng">
              <a:solidFill>
                <a:srgbClr val="CDCFD3">
                  <a:alpha val="89411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8" name="Google Shape;558;p4"/>
          <p:cNvGrpSpPr/>
          <p:nvPr/>
        </p:nvGrpSpPr>
        <p:grpSpPr>
          <a:xfrm>
            <a:off x="419909" y="2914682"/>
            <a:ext cx="8304068" cy="1602477"/>
            <a:chOff x="3124" y="104236"/>
            <a:chExt cx="8304068" cy="1602477"/>
          </a:xfrm>
        </p:grpSpPr>
        <p:sp>
          <p:nvSpPr>
            <p:cNvPr id="559" name="Google Shape;559;p4"/>
            <p:cNvSpPr/>
            <p:nvPr/>
          </p:nvSpPr>
          <p:spPr>
            <a:xfrm>
              <a:off x="3124" y="104236"/>
              <a:ext cx="1878748" cy="724077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"/>
            <p:cNvSpPr txBox="1"/>
            <p:nvPr/>
          </p:nvSpPr>
          <p:spPr>
            <a:xfrm>
              <a:off x="3124" y="104236"/>
              <a:ext cx="1878748" cy="724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81275" rIns="142225" bIns="81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Encode Sans Semi Condensed"/>
                  <a:ea typeface="Encode Sans Semi Condensed"/>
                  <a:cs typeface="Encode Sans Semi Condensed"/>
                  <a:sym typeface="Encode Sans Semi Condensed"/>
                </a:rPr>
                <a:t>Sector &amp; Sub-Sector</a:t>
              </a:r>
              <a:endParaRPr sz="2000" b="0" i="0" u="none" strike="noStrike" cap="none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endParaRPr>
            </a:p>
          </p:txBody>
        </p:sp>
        <p:sp>
          <p:nvSpPr>
            <p:cNvPr id="561" name="Google Shape;561;p4"/>
            <p:cNvSpPr/>
            <p:nvPr/>
          </p:nvSpPr>
          <p:spPr>
            <a:xfrm>
              <a:off x="3124" y="828313"/>
              <a:ext cx="1878748" cy="878400"/>
            </a:xfrm>
            <a:prstGeom prst="rect">
              <a:avLst/>
            </a:prstGeom>
            <a:solidFill>
              <a:srgbClr val="CCD3EA">
                <a:alpha val="89411"/>
              </a:srgbClr>
            </a:solidFill>
            <a:ln w="12700" cap="flat" cmpd="sng">
              <a:solidFill>
                <a:srgbClr val="CCD3EA">
                  <a:alpha val="89411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"/>
            <p:cNvSpPr/>
            <p:nvPr/>
          </p:nvSpPr>
          <p:spPr>
            <a:xfrm>
              <a:off x="2144897" y="104236"/>
              <a:ext cx="1878748" cy="724077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"/>
            <p:cNvSpPr txBox="1"/>
            <p:nvPr/>
          </p:nvSpPr>
          <p:spPr>
            <a:xfrm>
              <a:off x="2144897" y="104236"/>
              <a:ext cx="1878748" cy="724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81275" rIns="142225" bIns="81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Encode Sans Semi Condensed"/>
                  <a:ea typeface="Encode Sans Semi Condensed"/>
                  <a:cs typeface="Encode Sans Semi Condensed"/>
                  <a:sym typeface="Encode Sans Semi Condensed"/>
                </a:rPr>
                <a:t>Project Category </a:t>
              </a:r>
              <a:endParaRPr sz="2000" b="0" i="0" u="none" strike="noStrike" cap="none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endParaRPr>
            </a:p>
          </p:txBody>
        </p:sp>
        <p:sp>
          <p:nvSpPr>
            <p:cNvPr id="564" name="Google Shape;564;p4"/>
            <p:cNvSpPr/>
            <p:nvPr/>
          </p:nvSpPr>
          <p:spPr>
            <a:xfrm>
              <a:off x="2144897" y="828313"/>
              <a:ext cx="1878748" cy="878400"/>
            </a:xfrm>
            <a:prstGeom prst="rect">
              <a:avLst/>
            </a:prstGeom>
            <a:solidFill>
              <a:srgbClr val="CCD3EA">
                <a:alpha val="89411"/>
              </a:srgbClr>
            </a:solidFill>
            <a:ln w="12700" cap="flat" cmpd="sng">
              <a:solidFill>
                <a:srgbClr val="CCD3EA">
                  <a:alpha val="89411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"/>
            <p:cNvSpPr/>
            <p:nvPr/>
          </p:nvSpPr>
          <p:spPr>
            <a:xfrm>
              <a:off x="4286671" y="104236"/>
              <a:ext cx="1878748" cy="724077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"/>
            <p:cNvSpPr txBox="1"/>
            <p:nvPr/>
          </p:nvSpPr>
          <p:spPr>
            <a:xfrm>
              <a:off x="4286671" y="104236"/>
              <a:ext cx="1878748" cy="724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81275" rIns="142225" bIns="81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Encode Sans Semi Condensed"/>
                  <a:ea typeface="Encode Sans Semi Condensed"/>
                  <a:cs typeface="Encode Sans Semi Condensed"/>
                  <a:sym typeface="Encode Sans Semi Condensed"/>
                </a:rPr>
                <a:t>Geographic Location</a:t>
              </a:r>
              <a:endParaRPr sz="2000" b="0" i="0" u="none" strike="noStrike" cap="none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endParaRPr>
            </a:p>
          </p:txBody>
        </p:sp>
        <p:sp>
          <p:nvSpPr>
            <p:cNvPr id="567" name="Google Shape;567;p4"/>
            <p:cNvSpPr/>
            <p:nvPr/>
          </p:nvSpPr>
          <p:spPr>
            <a:xfrm>
              <a:off x="4286671" y="828313"/>
              <a:ext cx="1878748" cy="878400"/>
            </a:xfrm>
            <a:prstGeom prst="rect">
              <a:avLst/>
            </a:prstGeom>
            <a:solidFill>
              <a:srgbClr val="CCD3EA">
                <a:alpha val="89411"/>
              </a:srgbClr>
            </a:solidFill>
            <a:ln w="12700" cap="flat" cmpd="sng">
              <a:solidFill>
                <a:srgbClr val="CCD3EA">
                  <a:alpha val="89411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"/>
            <p:cNvSpPr/>
            <p:nvPr/>
          </p:nvSpPr>
          <p:spPr>
            <a:xfrm>
              <a:off x="6428444" y="104236"/>
              <a:ext cx="1878748" cy="724077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"/>
            <p:cNvSpPr txBox="1"/>
            <p:nvPr/>
          </p:nvSpPr>
          <p:spPr>
            <a:xfrm>
              <a:off x="6428444" y="104236"/>
              <a:ext cx="1878748" cy="724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81275" rIns="142225" bIns="81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chemeClr val="lt1"/>
                  </a:solidFill>
                  <a:latin typeface="Encode Sans Semi Condensed"/>
                  <a:ea typeface="Encode Sans Semi Condensed"/>
                  <a:cs typeface="Encode Sans Semi Condensed"/>
                  <a:sym typeface="Encode Sans Semi Condensed"/>
                </a:rPr>
                <a:t>Project Duration</a:t>
              </a:r>
              <a:endParaRPr sz="2000" b="0" i="0" u="none" strike="noStrike" cap="none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endParaRPr>
            </a:p>
          </p:txBody>
        </p:sp>
        <p:sp>
          <p:nvSpPr>
            <p:cNvPr id="570" name="Google Shape;570;p4"/>
            <p:cNvSpPr/>
            <p:nvPr/>
          </p:nvSpPr>
          <p:spPr>
            <a:xfrm>
              <a:off x="6428444" y="828313"/>
              <a:ext cx="1878748" cy="878400"/>
            </a:xfrm>
            <a:prstGeom prst="rect">
              <a:avLst/>
            </a:prstGeom>
            <a:solidFill>
              <a:srgbClr val="CCD3EA">
                <a:alpha val="89411"/>
              </a:srgbClr>
            </a:solidFill>
            <a:ln w="12700" cap="flat" cmpd="sng">
              <a:solidFill>
                <a:srgbClr val="CCD3EA">
                  <a:alpha val="89411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1" name="Google Shape;571;p4"/>
          <p:cNvSpPr txBox="1"/>
          <p:nvPr/>
        </p:nvSpPr>
        <p:spPr>
          <a:xfrm>
            <a:off x="509535" y="1721396"/>
            <a:ext cx="15039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"/>
          <p:cNvSpPr txBox="1"/>
          <p:nvPr/>
        </p:nvSpPr>
        <p:spPr>
          <a:xfrm>
            <a:off x="509535" y="1859891"/>
            <a:ext cx="173254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Ministry of Local Government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"/>
          <p:cNvSpPr txBox="1"/>
          <p:nvPr/>
        </p:nvSpPr>
        <p:spPr>
          <a:xfrm>
            <a:off x="2657172" y="1841789"/>
            <a:ext cx="173254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Dhaka South City Corporation (DSCC)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"/>
          <p:cNvSpPr txBox="1"/>
          <p:nvPr/>
        </p:nvSpPr>
        <p:spPr>
          <a:xfrm>
            <a:off x="4804809" y="1841789"/>
            <a:ext cx="1732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Implement a Sustainable Solid Waste Management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"/>
          <p:cNvSpPr txBox="1"/>
          <p:nvPr/>
        </p:nvSpPr>
        <p:spPr>
          <a:xfrm>
            <a:off x="6952446" y="1873920"/>
            <a:ext cx="17325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4.10 Crore (BDT)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"/>
          <p:cNvSpPr txBox="1"/>
          <p:nvPr/>
        </p:nvSpPr>
        <p:spPr>
          <a:xfrm>
            <a:off x="509535" y="3715921"/>
            <a:ext cx="17325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Environment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"/>
          <p:cNvSpPr txBox="1"/>
          <p:nvPr/>
        </p:nvSpPr>
        <p:spPr>
          <a:xfrm>
            <a:off x="2657171" y="3715920"/>
            <a:ext cx="17325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Yellow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"/>
          <p:cNvSpPr txBox="1"/>
          <p:nvPr/>
        </p:nvSpPr>
        <p:spPr>
          <a:xfrm>
            <a:off x="4804807" y="3631339"/>
            <a:ext cx="173254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Dhaka South City Corporation, Lalbag, Dhaka, Bangladesh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"/>
          <p:cNvSpPr txBox="1"/>
          <p:nvPr/>
        </p:nvSpPr>
        <p:spPr>
          <a:xfrm>
            <a:off x="6952443" y="3715920"/>
            <a:ext cx="17325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1 Years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"/>
          <p:cNvSpPr txBox="1"/>
          <p:nvPr/>
        </p:nvSpPr>
        <p:spPr>
          <a:xfrm>
            <a:off x="0" y="-29594"/>
            <a:ext cx="9144000" cy="715002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Basic Information</a:t>
            </a:r>
            <a:endParaRPr sz="2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"/>
          <p:cNvSpPr txBox="1">
            <a:spLocks noGrp="1"/>
          </p:cNvSpPr>
          <p:nvPr>
            <p:ph type="title"/>
          </p:nvPr>
        </p:nvSpPr>
        <p:spPr>
          <a:xfrm>
            <a:off x="0" y="11496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</a:pPr>
            <a:r>
              <a:rPr lang="en-US" sz="2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Feasibility Analysis</a:t>
            </a:r>
            <a:endParaRPr/>
          </a:p>
        </p:txBody>
      </p:sp>
      <p:sp>
        <p:nvSpPr>
          <p:cNvPr id="589" name="Google Shape;589;p5"/>
          <p:cNvSpPr txBox="1"/>
          <p:nvPr/>
        </p:nvSpPr>
        <p:spPr>
          <a:xfrm>
            <a:off x="2364544" y="601453"/>
            <a:ext cx="4414911" cy="4001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Field Visit and Conditional Survey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5"/>
          <p:cNvSpPr/>
          <p:nvPr/>
        </p:nvSpPr>
        <p:spPr>
          <a:xfrm>
            <a:off x="8074855" y="4925148"/>
            <a:ext cx="1069145" cy="2183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1" name="Google Shape;591;p5"/>
          <p:cNvPicPr preferRelativeResize="0"/>
          <p:nvPr/>
        </p:nvPicPr>
        <p:blipFill rotWithShape="1">
          <a:blip r:embed="rId3">
            <a:alphaModFix/>
          </a:blip>
          <a:srcRect l="-18583" t="-2538" r="18583" b="2538"/>
          <a:stretch/>
        </p:blipFill>
        <p:spPr>
          <a:xfrm>
            <a:off x="71509" y="3135734"/>
            <a:ext cx="3086688" cy="1789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5"/>
          <p:cNvPicPr preferRelativeResize="0"/>
          <p:nvPr/>
        </p:nvPicPr>
        <p:blipFill rotWithShape="1">
          <a:blip r:embed="rId4">
            <a:alphaModFix/>
          </a:blip>
          <a:srcRect l="1927" r="-1926"/>
          <a:stretch/>
        </p:blipFill>
        <p:spPr>
          <a:xfrm>
            <a:off x="636636" y="1460213"/>
            <a:ext cx="2581275" cy="1722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3134" y="1241215"/>
            <a:ext cx="2127348" cy="1595326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5"/>
          <p:cNvSpPr txBox="1"/>
          <p:nvPr/>
        </p:nvSpPr>
        <p:spPr>
          <a:xfrm>
            <a:off x="636636" y="1152436"/>
            <a:ext cx="198323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"/>
          <p:cNvSpPr txBox="1"/>
          <p:nvPr/>
        </p:nvSpPr>
        <p:spPr>
          <a:xfrm>
            <a:off x="3459482" y="1152436"/>
            <a:ext cx="2954655" cy="3932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B. Containers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attrocento Sans"/>
              <a:buChar char="❑"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Number-7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attrocento Sans"/>
              <a:buChar char="❑"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Volume- 5 tons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attrocento Sans"/>
              <a:buChar char="❑"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Dimension- 10’x5.5’x6’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C. Vans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attrocento Sans"/>
              <a:buChar char="❑"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Number-30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attrocento Sans"/>
              <a:buChar char="❑"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Volume- 1500 kg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attrocento Sans"/>
              <a:buChar char="❑"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Dimension- 2m x1m x 2m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attrocento Sans"/>
              <a:buChar char="❑"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Collection points: Chawkbazar,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Lalbagh, Azimpur Colony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attrocento Sans"/>
              <a:buChar char="❑"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trips per day per van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D. Trucks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attrocento Sans"/>
              <a:buChar char="❑"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Number-2 (One container at a time)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attrocento Sans"/>
              <a:buChar char="❑"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Time: 11:30 PM- 12:00 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attrocento Sans"/>
              <a:buChar char="❑"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Transferred to Jatrabari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3134" y="3629464"/>
            <a:ext cx="2127348" cy="1196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2056c7e390_2_0"/>
          <p:cNvSpPr txBox="1">
            <a:spLocks noGrp="1"/>
          </p:cNvSpPr>
          <p:nvPr>
            <p:ph type="title"/>
          </p:nvPr>
        </p:nvSpPr>
        <p:spPr>
          <a:xfrm>
            <a:off x="0" y="11496"/>
            <a:ext cx="9144000" cy="436800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</a:pPr>
            <a:r>
              <a:rPr lang="en-US" sz="2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Feasibility Analysis</a:t>
            </a:r>
            <a:endParaRPr/>
          </a:p>
        </p:txBody>
      </p:sp>
      <p:sp>
        <p:nvSpPr>
          <p:cNvPr id="602" name="Google Shape;602;g32056c7e390_2_0"/>
          <p:cNvSpPr txBox="1"/>
          <p:nvPr/>
        </p:nvSpPr>
        <p:spPr>
          <a:xfrm>
            <a:off x="2364544" y="601453"/>
            <a:ext cx="4414800" cy="400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Study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32056c7e390_2_0"/>
          <p:cNvSpPr/>
          <p:nvPr/>
        </p:nvSpPr>
        <p:spPr>
          <a:xfrm>
            <a:off x="8074855" y="4925148"/>
            <a:ext cx="1069200" cy="218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4" name="Google Shape;604;g32056c7e390_2_0"/>
          <p:cNvGraphicFramePr/>
          <p:nvPr>
            <p:extLst>
              <p:ext uri="{D42A27DB-BD31-4B8C-83A1-F6EECF244321}">
                <p14:modId xmlns:p14="http://schemas.microsoft.com/office/powerpoint/2010/main" val="3185051376"/>
              </p:ext>
            </p:extLst>
          </p:nvPr>
        </p:nvGraphicFramePr>
        <p:xfrm>
          <a:off x="586250" y="1310100"/>
          <a:ext cx="8093625" cy="3474490"/>
        </p:xfrm>
        <a:graphic>
          <a:graphicData uri="http://schemas.openxmlformats.org/drawingml/2006/table">
            <a:tbl>
              <a:tblPr>
                <a:noFill/>
                <a:tableStyleId>{E6BFF000-192F-4C3E-98A5-115FF38F1E45}</a:tableStyleId>
              </a:tblPr>
              <a:tblGrid>
                <a:gridCol w="149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8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 Square Ultra-Modern Mechanized Garbage Transfer Station at Indore, India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Jinxiang Wet Garbage Station at Changsha, China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Waste Compaction Station at the city of Kolkata, India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Secondary Waste Transfer Station at Lalbagh, Dhaka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Waste Collection Process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Separate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(Dry-Wet)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Separate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(Dry-Wet)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Separate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(Dry-Wet)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Mixed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Waste Segregation System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Both manual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 Automatic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Automatic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Manual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Absent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Waste Recycling Process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Recycle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Compactor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 Pilot mode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 automatic computerized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47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Manual mode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Absent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"/>
          <p:cNvSpPr txBox="1"/>
          <p:nvPr/>
        </p:nvSpPr>
        <p:spPr>
          <a:xfrm>
            <a:off x="0" y="-3141"/>
            <a:ext cx="9144000" cy="415498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Feasibility Analysis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0" name="Google Shape;610;p6" descr="Table 6.2: Determination of Roadway Capacity (PCU/hour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6284" y="1265207"/>
            <a:ext cx="5502542" cy="2808071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"/>
          <p:cNvSpPr txBox="1"/>
          <p:nvPr/>
        </p:nvSpPr>
        <p:spPr>
          <a:xfrm>
            <a:off x="248398" y="926491"/>
            <a:ext cx="2594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Table: Traffic Flow situation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2" name="Google Shape;612;p6"/>
          <p:cNvGrpSpPr/>
          <p:nvPr/>
        </p:nvGrpSpPr>
        <p:grpSpPr>
          <a:xfrm>
            <a:off x="5925358" y="975495"/>
            <a:ext cx="3083261" cy="3192509"/>
            <a:chOff x="4371720" y="1159108"/>
            <a:chExt cx="2815994" cy="2915772"/>
          </a:xfrm>
        </p:grpSpPr>
        <p:grpSp>
          <p:nvGrpSpPr>
            <p:cNvPr id="613" name="Google Shape;613;p6"/>
            <p:cNvGrpSpPr/>
            <p:nvPr/>
          </p:nvGrpSpPr>
          <p:grpSpPr>
            <a:xfrm>
              <a:off x="4371720" y="1159108"/>
              <a:ext cx="1288928" cy="1535679"/>
              <a:chOff x="4371720" y="1159108"/>
              <a:chExt cx="1288928" cy="1535679"/>
            </a:xfrm>
          </p:grpSpPr>
          <p:sp>
            <p:nvSpPr>
              <p:cNvPr id="614" name="Google Shape;614;p6"/>
              <p:cNvSpPr/>
              <p:nvPr/>
            </p:nvSpPr>
            <p:spPr>
              <a:xfrm>
                <a:off x="4371720" y="1159108"/>
                <a:ext cx="1288928" cy="1288928"/>
              </a:xfrm>
              <a:prstGeom prst="ellipse">
                <a:avLst/>
              </a:prstGeom>
              <a:blipFill rotWithShape="1">
                <a:blip r:embed="rId4">
                  <a:alphaModFix/>
                </a:blip>
                <a:stretch>
                  <a:fillRect l="-22996" r="-22996"/>
                </a:stretch>
              </a:blip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6"/>
              <p:cNvSpPr/>
              <p:nvPr/>
            </p:nvSpPr>
            <p:spPr>
              <a:xfrm>
                <a:off x="4892560" y="2388090"/>
                <a:ext cx="247247" cy="306697"/>
              </a:xfrm>
              <a:custGeom>
                <a:avLst/>
                <a:gdLst/>
                <a:ahLst/>
                <a:cxnLst/>
                <a:rect l="l" t="t" r="r" b="b"/>
                <a:pathLst>
                  <a:path w="247247" h="306697" extrusionOk="0">
                    <a:moveTo>
                      <a:pt x="0" y="0"/>
                    </a:moveTo>
                    <a:lnTo>
                      <a:pt x="247247" y="0"/>
                    </a:lnTo>
                    <a:lnTo>
                      <a:pt x="247247" y="306697"/>
                    </a:lnTo>
                    <a:lnTo>
                      <a:pt x="0" y="306697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76200" tIns="76200" rIns="76200" bIns="762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6" name="Google Shape;616;p6"/>
            <p:cNvGrpSpPr/>
            <p:nvPr/>
          </p:nvGrpSpPr>
          <p:grpSpPr>
            <a:xfrm>
              <a:off x="5871744" y="1159108"/>
              <a:ext cx="1315970" cy="1695865"/>
              <a:chOff x="5871744" y="1159108"/>
              <a:chExt cx="1315970" cy="1695865"/>
            </a:xfrm>
          </p:grpSpPr>
          <p:sp>
            <p:nvSpPr>
              <p:cNvPr id="617" name="Google Shape;617;p6"/>
              <p:cNvSpPr/>
              <p:nvPr/>
            </p:nvSpPr>
            <p:spPr>
              <a:xfrm>
                <a:off x="5871744" y="1159108"/>
                <a:ext cx="1315970" cy="1315970"/>
              </a:xfrm>
              <a:prstGeom prst="ellipse">
                <a:avLst/>
              </a:prstGeom>
              <a:blipFill rotWithShape="1">
                <a:blip r:embed="rId5">
                  <a:alphaModFix/>
                </a:blip>
                <a:stretch>
                  <a:fillRect l="-3996" r="-3996"/>
                </a:stretch>
              </a:blip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6"/>
              <p:cNvSpPr/>
              <p:nvPr/>
            </p:nvSpPr>
            <p:spPr>
              <a:xfrm>
                <a:off x="6426380" y="2388090"/>
                <a:ext cx="308661" cy="466883"/>
              </a:xfrm>
              <a:custGeom>
                <a:avLst/>
                <a:gdLst/>
                <a:ahLst/>
                <a:cxnLst/>
                <a:rect l="l" t="t" r="r" b="b"/>
                <a:pathLst>
                  <a:path w="308661" h="390683" extrusionOk="0">
                    <a:moveTo>
                      <a:pt x="0" y="0"/>
                    </a:moveTo>
                    <a:lnTo>
                      <a:pt x="308661" y="0"/>
                    </a:lnTo>
                    <a:lnTo>
                      <a:pt x="308661" y="390683"/>
                    </a:lnTo>
                    <a:lnTo>
                      <a:pt x="0" y="39068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76200" tIns="76200" rIns="76200" bIns="762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" name="Google Shape;619;p6"/>
            <p:cNvGrpSpPr/>
            <p:nvPr/>
          </p:nvGrpSpPr>
          <p:grpSpPr>
            <a:xfrm>
              <a:off x="5084127" y="2479882"/>
              <a:ext cx="1342253" cy="1594998"/>
              <a:chOff x="7398810" y="1159108"/>
              <a:chExt cx="1342253" cy="1594998"/>
            </a:xfrm>
          </p:grpSpPr>
          <p:sp>
            <p:nvSpPr>
              <p:cNvPr id="620" name="Google Shape;620;p6"/>
              <p:cNvSpPr/>
              <p:nvPr/>
            </p:nvSpPr>
            <p:spPr>
              <a:xfrm>
                <a:off x="7398810" y="1159108"/>
                <a:ext cx="1342253" cy="1342253"/>
              </a:xfrm>
              <a:prstGeom prst="ellipse">
                <a:avLst/>
              </a:prstGeom>
              <a:blipFill rotWithShape="1">
                <a:blip r:embed="rId6">
                  <a:alphaModFix/>
                </a:blip>
                <a:stretch>
                  <a:fillRect l="-23997" r="-23997"/>
                </a:stretch>
              </a:blip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6"/>
              <p:cNvSpPr/>
              <p:nvPr/>
            </p:nvSpPr>
            <p:spPr>
              <a:xfrm>
                <a:off x="8021614" y="2488956"/>
                <a:ext cx="221222" cy="265150"/>
              </a:xfrm>
              <a:custGeom>
                <a:avLst/>
                <a:gdLst/>
                <a:ahLst/>
                <a:cxnLst/>
                <a:rect l="l" t="t" r="r" b="b"/>
                <a:pathLst>
                  <a:path w="221222" h="265150" extrusionOk="0">
                    <a:moveTo>
                      <a:pt x="0" y="0"/>
                    </a:moveTo>
                    <a:lnTo>
                      <a:pt x="221222" y="0"/>
                    </a:lnTo>
                    <a:lnTo>
                      <a:pt x="221222" y="265150"/>
                    </a:lnTo>
                    <a:lnTo>
                      <a:pt x="0" y="26515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76200" tIns="76200" rIns="76200" bIns="762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22" name="Google Shape;622;p6"/>
          <p:cNvSpPr txBox="1"/>
          <p:nvPr/>
        </p:nvSpPr>
        <p:spPr>
          <a:xfrm>
            <a:off x="5925358" y="4204856"/>
            <a:ext cx="308410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Figure: Collection routes: (a) Azimpur Colony; (b) Chawkbazar; (c) Lalbagh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p6"/>
          <p:cNvGrpSpPr/>
          <p:nvPr/>
        </p:nvGrpSpPr>
        <p:grpSpPr>
          <a:xfrm>
            <a:off x="141736" y="4192491"/>
            <a:ext cx="4371349" cy="844424"/>
            <a:chOff x="-104582" y="290257"/>
            <a:chExt cx="4371349" cy="844424"/>
          </a:xfrm>
        </p:grpSpPr>
        <p:sp>
          <p:nvSpPr>
            <p:cNvPr id="624" name="Google Shape;624;p6"/>
            <p:cNvSpPr/>
            <p:nvPr/>
          </p:nvSpPr>
          <p:spPr>
            <a:xfrm>
              <a:off x="2084" y="306963"/>
              <a:ext cx="1066170" cy="35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"/>
            <p:cNvSpPr txBox="1"/>
            <p:nvPr/>
          </p:nvSpPr>
          <p:spPr>
            <a:xfrm>
              <a:off x="-104582" y="308254"/>
              <a:ext cx="1279500" cy="29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45700" rIns="128000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Capacity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1068255" y="290257"/>
              <a:ext cx="213234" cy="389812"/>
            </a:xfrm>
            <a:prstGeom prst="leftBrace">
              <a:avLst>
                <a:gd name="adj1" fmla="val 35000"/>
                <a:gd name="adj2" fmla="val 50000"/>
              </a:avLst>
            </a:prstGeom>
            <a:noFill/>
            <a:ln w="12700" cap="flat" cmpd="sng">
              <a:solidFill>
                <a:srgbClr val="345A9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1366783" y="290257"/>
              <a:ext cx="2899984" cy="389812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6"/>
            <p:cNvSpPr txBox="1"/>
            <p:nvPr/>
          </p:nvSpPr>
          <p:spPr>
            <a:xfrm>
              <a:off x="1366783" y="290257"/>
              <a:ext cx="2899984" cy="389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2424 PCU/hour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2084" y="761576"/>
              <a:ext cx="1066170" cy="35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6"/>
            <p:cNvSpPr txBox="1"/>
            <p:nvPr/>
          </p:nvSpPr>
          <p:spPr>
            <a:xfrm>
              <a:off x="2080" y="761566"/>
              <a:ext cx="1146000" cy="35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8000" tIns="45700" rIns="128000" bIns="45700" anchor="ctr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Demand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1068255" y="744869"/>
              <a:ext cx="213234" cy="389812"/>
            </a:xfrm>
            <a:prstGeom prst="leftBrace">
              <a:avLst>
                <a:gd name="adj1" fmla="val 35000"/>
                <a:gd name="adj2" fmla="val 50000"/>
              </a:avLst>
            </a:prstGeom>
            <a:noFill/>
            <a:ln w="12700" cap="flat" cmpd="sng">
              <a:solidFill>
                <a:srgbClr val="345A9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1366783" y="744869"/>
              <a:ext cx="2899984" cy="389812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6"/>
            <p:cNvSpPr txBox="1"/>
            <p:nvPr/>
          </p:nvSpPr>
          <p:spPr>
            <a:xfrm>
              <a:off x="1366783" y="744869"/>
              <a:ext cx="2899984" cy="389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2041 PCU/hour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4" name="Google Shape;634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8409" y="51484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6"/>
          <p:cNvSpPr txBox="1"/>
          <p:nvPr/>
        </p:nvSpPr>
        <p:spPr>
          <a:xfrm>
            <a:off x="605508" y="590529"/>
            <a:ext cx="3167389" cy="496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Traffic Impact Analysis</a:t>
            </a: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6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"/>
          <p:cNvSpPr txBox="1"/>
          <p:nvPr/>
        </p:nvSpPr>
        <p:spPr>
          <a:xfrm>
            <a:off x="0" y="-3141"/>
            <a:ext cx="9144000" cy="436800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Feasibility Analysis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7"/>
          <p:cNvSpPr/>
          <p:nvPr/>
        </p:nvSpPr>
        <p:spPr>
          <a:xfrm>
            <a:off x="8046720" y="4925148"/>
            <a:ext cx="1097400" cy="207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p7"/>
          <p:cNvPicPr preferRelativeResize="0"/>
          <p:nvPr/>
        </p:nvPicPr>
        <p:blipFill rotWithShape="1">
          <a:blip r:embed="rId3">
            <a:alphaModFix/>
          </a:blip>
          <a:srcRect l="1263" b="-1604"/>
          <a:stretch/>
        </p:blipFill>
        <p:spPr>
          <a:xfrm>
            <a:off x="274025" y="527350"/>
            <a:ext cx="8481899" cy="446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"/>
          <p:cNvSpPr/>
          <p:nvPr/>
        </p:nvSpPr>
        <p:spPr>
          <a:xfrm>
            <a:off x="0" y="433650"/>
            <a:ext cx="4602000" cy="4710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8"/>
          <p:cNvSpPr txBox="1"/>
          <p:nvPr/>
        </p:nvSpPr>
        <p:spPr>
          <a:xfrm>
            <a:off x="0" y="-3141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	Feasibility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0" name="Google Shape;650;p8"/>
          <p:cNvGrpSpPr/>
          <p:nvPr/>
        </p:nvGrpSpPr>
        <p:grpSpPr>
          <a:xfrm>
            <a:off x="4898277" y="1212097"/>
            <a:ext cx="4016294" cy="3732971"/>
            <a:chOff x="6231785" y="993616"/>
            <a:chExt cx="5355059" cy="4977295"/>
          </a:xfrm>
        </p:grpSpPr>
        <p:sp>
          <p:nvSpPr>
            <p:cNvPr id="651" name="Google Shape;651;p8"/>
            <p:cNvSpPr/>
            <p:nvPr/>
          </p:nvSpPr>
          <p:spPr>
            <a:xfrm>
              <a:off x="6236518" y="3327148"/>
              <a:ext cx="868289" cy="867669"/>
            </a:xfrm>
            <a:custGeom>
              <a:avLst/>
              <a:gdLst/>
              <a:ahLst/>
              <a:cxnLst/>
              <a:rect l="l" t="t" r="r" b="b"/>
              <a:pathLst>
                <a:path w="868289" h="867669" extrusionOk="0">
                  <a:moveTo>
                    <a:pt x="868289" y="433781"/>
                  </a:moveTo>
                  <a:cubicBezTo>
                    <a:pt x="868321" y="673384"/>
                    <a:pt x="673972" y="867637"/>
                    <a:pt x="434198" y="867669"/>
                  </a:cubicBezTo>
                  <a:cubicBezTo>
                    <a:pt x="194427" y="867696"/>
                    <a:pt x="29" y="673491"/>
                    <a:pt x="0" y="433888"/>
                  </a:cubicBezTo>
                  <a:cubicBezTo>
                    <a:pt x="-29" y="194285"/>
                    <a:pt x="194320" y="32"/>
                    <a:pt x="434091" y="0"/>
                  </a:cubicBezTo>
                  <a:cubicBezTo>
                    <a:pt x="434109" y="0"/>
                    <a:pt x="434127" y="0"/>
                    <a:pt x="434145" y="0"/>
                  </a:cubicBezTo>
                  <a:cubicBezTo>
                    <a:pt x="673918" y="0"/>
                    <a:pt x="868289" y="194232"/>
                    <a:pt x="868289" y="43383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41300" dist="38100" dir="2700000" algn="tl" rotWithShape="0">
                <a:srgbClr val="000000">
                  <a:alpha val="3137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2" name="Google Shape;652;p8"/>
            <p:cNvGrpSpPr/>
            <p:nvPr/>
          </p:nvGrpSpPr>
          <p:grpSpPr>
            <a:xfrm>
              <a:off x="6446952" y="993616"/>
              <a:ext cx="5139892" cy="4977295"/>
              <a:chOff x="6446952" y="993616"/>
              <a:chExt cx="5139892" cy="4977295"/>
            </a:xfrm>
          </p:grpSpPr>
          <p:sp>
            <p:nvSpPr>
              <p:cNvPr id="653" name="Google Shape;653;p8"/>
              <p:cNvSpPr/>
              <p:nvPr/>
            </p:nvSpPr>
            <p:spPr>
              <a:xfrm>
                <a:off x="6446952" y="993616"/>
                <a:ext cx="4889897" cy="4886405"/>
              </a:xfrm>
              <a:custGeom>
                <a:avLst/>
                <a:gdLst/>
                <a:ahLst/>
                <a:cxnLst/>
                <a:rect l="l" t="t" r="r" b="b"/>
                <a:pathLst>
                  <a:path w="4889897" h="4886405" extrusionOk="0">
                    <a:moveTo>
                      <a:pt x="2444975" y="4524442"/>
                    </a:moveTo>
                    <a:cubicBezTo>
                      <a:pt x="1296622" y="4524442"/>
                      <a:pt x="362542" y="3590763"/>
                      <a:pt x="362542" y="2443230"/>
                    </a:cubicBezTo>
                    <a:cubicBezTo>
                      <a:pt x="362542" y="1295696"/>
                      <a:pt x="1296569" y="362284"/>
                      <a:pt x="2444975" y="362284"/>
                    </a:cubicBezTo>
                    <a:cubicBezTo>
                      <a:pt x="3593382" y="362284"/>
                      <a:pt x="4527355" y="1295910"/>
                      <a:pt x="4527355" y="2443230"/>
                    </a:cubicBezTo>
                    <a:cubicBezTo>
                      <a:pt x="4527355" y="3590550"/>
                      <a:pt x="3593329" y="4524442"/>
                      <a:pt x="2444975" y="4524442"/>
                    </a:cubicBezTo>
                    <a:close/>
                    <a:moveTo>
                      <a:pt x="2444975" y="0"/>
                    </a:moveTo>
                    <a:cubicBezTo>
                      <a:pt x="1096797" y="0"/>
                      <a:pt x="0" y="1096014"/>
                      <a:pt x="0" y="2443230"/>
                    </a:cubicBezTo>
                    <a:cubicBezTo>
                      <a:pt x="0" y="3790445"/>
                      <a:pt x="1096797" y="4886406"/>
                      <a:pt x="2444975" y="4886406"/>
                    </a:cubicBezTo>
                    <a:cubicBezTo>
                      <a:pt x="3793153" y="4886406"/>
                      <a:pt x="4889898" y="3790445"/>
                      <a:pt x="4889898" y="2443230"/>
                    </a:cubicBezTo>
                    <a:cubicBezTo>
                      <a:pt x="4889898" y="1096014"/>
                      <a:pt x="3793100" y="0"/>
                      <a:pt x="24449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8"/>
              <p:cNvSpPr/>
              <p:nvPr/>
            </p:nvSpPr>
            <p:spPr>
              <a:xfrm>
                <a:off x="6551916" y="2816488"/>
                <a:ext cx="455857" cy="1789840"/>
              </a:xfrm>
              <a:custGeom>
                <a:avLst/>
                <a:gdLst/>
                <a:ahLst/>
                <a:cxnLst/>
                <a:rect l="l" t="t" r="r" b="b"/>
                <a:pathLst>
                  <a:path w="455857" h="1789840" extrusionOk="0">
                    <a:moveTo>
                      <a:pt x="313400" y="1789681"/>
                    </a:moveTo>
                    <a:cubicBezTo>
                      <a:pt x="3368" y="1252468"/>
                      <a:pt x="-80767" y="614305"/>
                      <a:pt x="79453" y="15184"/>
                    </a:cubicBezTo>
                    <a:lnTo>
                      <a:pt x="168543" y="0"/>
                    </a:lnTo>
                    <a:lnTo>
                      <a:pt x="238652" y="57806"/>
                    </a:lnTo>
                    <a:cubicBezTo>
                      <a:pt x="89362" y="614694"/>
                      <a:pt x="167489" y="1208029"/>
                      <a:pt x="455858" y="1707368"/>
                    </a:cubicBezTo>
                    <a:lnTo>
                      <a:pt x="313400" y="178984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8"/>
              <p:cNvSpPr/>
              <p:nvPr/>
            </p:nvSpPr>
            <p:spPr>
              <a:xfrm>
                <a:off x="6865315" y="1098145"/>
                <a:ext cx="2072516" cy="1251742"/>
              </a:xfrm>
              <a:custGeom>
                <a:avLst/>
                <a:gdLst/>
                <a:ahLst/>
                <a:cxnLst/>
                <a:rect l="l" t="t" r="r" b="b"/>
                <a:pathLst>
                  <a:path w="2072516" h="1251742" extrusionOk="0">
                    <a:moveTo>
                      <a:pt x="0" y="1169323"/>
                    </a:moveTo>
                    <a:cubicBezTo>
                      <a:pt x="418102" y="445891"/>
                      <a:pt x="1190552" y="187"/>
                      <a:pt x="2026559" y="0"/>
                    </a:cubicBezTo>
                    <a:lnTo>
                      <a:pt x="2072516" y="84231"/>
                    </a:lnTo>
                    <a:lnTo>
                      <a:pt x="2026559" y="164892"/>
                    </a:lnTo>
                    <a:cubicBezTo>
                      <a:pt x="1249295" y="164706"/>
                      <a:pt x="531013" y="579046"/>
                      <a:pt x="142458" y="1251743"/>
                    </a:cubicBezTo>
                    <a:lnTo>
                      <a:pt x="0" y="1169323"/>
                    </a:lnTo>
                    <a:close/>
                  </a:path>
                </a:pathLst>
              </a:custGeom>
              <a:solidFill>
                <a:srgbClr val="F8EC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8"/>
              <p:cNvSpPr/>
              <p:nvPr/>
            </p:nvSpPr>
            <p:spPr>
              <a:xfrm>
                <a:off x="9979555" y="1783127"/>
                <a:ext cx="1252389" cy="3678776"/>
              </a:xfrm>
              <a:custGeom>
                <a:avLst/>
                <a:gdLst/>
                <a:ahLst/>
                <a:cxnLst/>
                <a:rect l="l" t="t" r="r" b="b"/>
                <a:pathLst>
                  <a:path w="1252389" h="3678776" extrusionOk="0">
                    <a:moveTo>
                      <a:pt x="567219" y="0"/>
                    </a:moveTo>
                    <a:cubicBezTo>
                      <a:pt x="1481055" y="913578"/>
                      <a:pt x="1480741" y="2394460"/>
                      <a:pt x="566510" y="3307649"/>
                    </a:cubicBezTo>
                    <a:cubicBezTo>
                      <a:pt x="422058" y="3451928"/>
                      <a:pt x="259335" y="3576698"/>
                      <a:pt x="82479" y="3678776"/>
                    </a:cubicBezTo>
                    <a:lnTo>
                      <a:pt x="8210" y="3636687"/>
                    </a:lnTo>
                    <a:lnTo>
                      <a:pt x="0" y="3536580"/>
                    </a:lnTo>
                    <a:cubicBezTo>
                      <a:pt x="1040449" y="2936751"/>
                      <a:pt x="1397292" y="1607649"/>
                      <a:pt x="797039" y="567943"/>
                    </a:cubicBezTo>
                    <a:cubicBezTo>
                      <a:pt x="701813" y="402998"/>
                      <a:pt x="585303" y="251281"/>
                      <a:pt x="450512" y="116677"/>
                    </a:cubicBezTo>
                    <a:lnTo>
                      <a:pt x="567219" y="10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8"/>
              <p:cNvSpPr/>
              <p:nvPr/>
            </p:nvSpPr>
            <p:spPr>
              <a:xfrm>
                <a:off x="7237028" y="4974046"/>
                <a:ext cx="1703522" cy="801445"/>
              </a:xfrm>
              <a:custGeom>
                <a:avLst/>
                <a:gdLst/>
                <a:ahLst/>
                <a:cxnLst/>
                <a:rect l="l" t="t" r="r" b="b"/>
                <a:pathLst>
                  <a:path w="1703522" h="801445" extrusionOk="0">
                    <a:moveTo>
                      <a:pt x="1703523" y="800913"/>
                    </a:moveTo>
                    <a:cubicBezTo>
                      <a:pt x="1687262" y="801233"/>
                      <a:pt x="1671001" y="801446"/>
                      <a:pt x="1654846" y="801446"/>
                    </a:cubicBezTo>
                    <a:cubicBezTo>
                      <a:pt x="1034253" y="801073"/>
                      <a:pt x="439135" y="554779"/>
                      <a:pt x="0" y="116570"/>
                    </a:cubicBezTo>
                    <a:lnTo>
                      <a:pt x="26658" y="32659"/>
                    </a:lnTo>
                    <a:lnTo>
                      <a:pt x="116760" y="0"/>
                    </a:lnTo>
                    <a:cubicBezTo>
                      <a:pt x="524519" y="407873"/>
                      <a:pt x="1077903" y="636895"/>
                      <a:pt x="1654846" y="636553"/>
                    </a:cubicBezTo>
                    <a:cubicBezTo>
                      <a:pt x="1671107" y="636553"/>
                      <a:pt x="1687368" y="636553"/>
                      <a:pt x="1703523" y="636021"/>
                    </a:cubicBezTo>
                    <a:lnTo>
                      <a:pt x="1703523" y="80117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8"/>
              <p:cNvSpPr/>
              <p:nvPr/>
            </p:nvSpPr>
            <p:spPr>
              <a:xfrm>
                <a:off x="7296048" y="1065273"/>
                <a:ext cx="868289" cy="867669"/>
              </a:xfrm>
              <a:custGeom>
                <a:avLst/>
                <a:gdLst/>
                <a:ahLst/>
                <a:cxnLst/>
                <a:rect l="l" t="t" r="r" b="b"/>
                <a:pathLst>
                  <a:path w="868289" h="867669" extrusionOk="0">
                    <a:moveTo>
                      <a:pt x="868289" y="433835"/>
                    </a:moveTo>
                    <a:cubicBezTo>
                      <a:pt x="868289" y="673437"/>
                      <a:pt x="673918" y="867669"/>
                      <a:pt x="434145" y="867669"/>
                    </a:cubicBezTo>
                    <a:cubicBezTo>
                      <a:pt x="194371" y="867669"/>
                      <a:pt x="0" y="673437"/>
                      <a:pt x="0" y="433835"/>
                    </a:cubicBezTo>
                    <a:cubicBezTo>
                      <a:pt x="0" y="194235"/>
                      <a:pt x="194371" y="0"/>
                      <a:pt x="434145" y="0"/>
                    </a:cubicBezTo>
                    <a:cubicBezTo>
                      <a:pt x="673918" y="0"/>
                      <a:pt x="868289" y="194235"/>
                      <a:pt x="868289" y="433835"/>
                    </a:cubicBezTo>
                    <a:close/>
                  </a:path>
                </a:pathLst>
              </a:custGeom>
              <a:solidFill>
                <a:srgbClr val="F8EC7B"/>
              </a:solidFill>
              <a:ln>
                <a:noFill/>
              </a:ln>
              <a:effectLst>
                <a:outerShdw blurRad="241300" dist="38100" dir="2700000" algn="tl" rotWithShape="0">
                  <a:srgbClr val="000000">
                    <a:alpha val="31372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8"/>
              <p:cNvSpPr/>
              <p:nvPr/>
            </p:nvSpPr>
            <p:spPr>
              <a:xfrm>
                <a:off x="10718555" y="2977917"/>
                <a:ext cx="868289" cy="867669"/>
              </a:xfrm>
              <a:custGeom>
                <a:avLst/>
                <a:gdLst/>
                <a:ahLst/>
                <a:cxnLst/>
                <a:rect l="l" t="t" r="r" b="b"/>
                <a:pathLst>
                  <a:path w="868289" h="867669" extrusionOk="0">
                    <a:moveTo>
                      <a:pt x="868289" y="433835"/>
                    </a:moveTo>
                    <a:cubicBezTo>
                      <a:pt x="868289" y="673437"/>
                      <a:pt x="673918" y="867669"/>
                      <a:pt x="434145" y="867669"/>
                    </a:cubicBezTo>
                    <a:cubicBezTo>
                      <a:pt x="194376" y="867669"/>
                      <a:pt x="0" y="673437"/>
                      <a:pt x="0" y="433835"/>
                    </a:cubicBezTo>
                    <a:cubicBezTo>
                      <a:pt x="0" y="194232"/>
                      <a:pt x="194376" y="0"/>
                      <a:pt x="434145" y="0"/>
                    </a:cubicBezTo>
                    <a:cubicBezTo>
                      <a:pt x="673918" y="0"/>
                      <a:pt x="868289" y="194232"/>
                      <a:pt x="868289" y="43383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241300" dist="38100" dir="2700000" algn="tl" rotWithShape="0">
                  <a:srgbClr val="000000">
                    <a:alpha val="31372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8"/>
              <p:cNvSpPr/>
              <p:nvPr/>
            </p:nvSpPr>
            <p:spPr>
              <a:xfrm>
                <a:off x="7655338" y="5103136"/>
                <a:ext cx="868395" cy="867775"/>
              </a:xfrm>
              <a:custGeom>
                <a:avLst/>
                <a:gdLst/>
                <a:ahLst/>
                <a:cxnLst/>
                <a:rect l="l" t="t" r="r" b="b"/>
                <a:pathLst>
                  <a:path w="868395" h="867775" extrusionOk="0">
                    <a:moveTo>
                      <a:pt x="868396" y="433835"/>
                    </a:moveTo>
                    <a:cubicBezTo>
                      <a:pt x="868428" y="673464"/>
                      <a:pt x="674052" y="867744"/>
                      <a:pt x="434251" y="867776"/>
                    </a:cubicBezTo>
                    <a:cubicBezTo>
                      <a:pt x="194451" y="867808"/>
                      <a:pt x="32" y="673571"/>
                      <a:pt x="0" y="433941"/>
                    </a:cubicBezTo>
                    <a:cubicBezTo>
                      <a:pt x="-32" y="194312"/>
                      <a:pt x="194344" y="32"/>
                      <a:pt x="434145" y="0"/>
                    </a:cubicBezTo>
                    <a:cubicBezTo>
                      <a:pt x="434182" y="0"/>
                      <a:pt x="434214" y="0"/>
                      <a:pt x="434251" y="0"/>
                    </a:cubicBezTo>
                    <a:cubicBezTo>
                      <a:pt x="674025" y="0"/>
                      <a:pt x="868396" y="194232"/>
                      <a:pt x="868396" y="43383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241300" dist="38100" dir="2700000" algn="tl" rotWithShape="0">
                  <a:srgbClr val="000000">
                    <a:alpha val="31372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8"/>
              <p:cNvSpPr txBox="1"/>
              <p:nvPr/>
            </p:nvSpPr>
            <p:spPr>
              <a:xfrm>
                <a:off x="7338543" y="1136796"/>
                <a:ext cx="808361" cy="6771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00"/>
                  <a:buFont typeface="Arial"/>
                  <a:buNone/>
                </a:pPr>
                <a:r>
                  <a:rPr lang="en-US" sz="2700" b="1" i="0" u="none" strike="noStrike" cap="none">
                    <a:solidFill>
                      <a:srgbClr val="000000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rPr>
                  <a:t>A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8"/>
              <p:cNvSpPr txBox="1"/>
              <p:nvPr/>
            </p:nvSpPr>
            <p:spPr>
              <a:xfrm>
                <a:off x="10773751" y="3088585"/>
                <a:ext cx="808361" cy="6771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00"/>
                  <a:buFont typeface="Arial"/>
                  <a:buNone/>
                </a:pPr>
                <a:r>
                  <a:rPr lang="en-US" sz="2700" b="1" i="0" u="none" strike="noStrike" cap="none">
                    <a:solidFill>
                      <a:srgbClr val="000000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rPr>
                  <a:t>B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8"/>
              <p:cNvSpPr txBox="1"/>
              <p:nvPr/>
            </p:nvSpPr>
            <p:spPr>
              <a:xfrm>
                <a:off x="7685392" y="5196822"/>
                <a:ext cx="808361" cy="6771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700"/>
                  <a:buFont typeface="Arial"/>
                  <a:buNone/>
                </a:pPr>
                <a:r>
                  <a:rPr lang="en-US" sz="2700" b="1" i="0" u="none" strike="noStrike" cap="none">
                    <a:solidFill>
                      <a:srgbClr val="000000"/>
                    </a:solidFill>
                    <a:latin typeface="Twentieth Century"/>
                    <a:ea typeface="Twentieth Century"/>
                    <a:cs typeface="Twentieth Century"/>
                    <a:sym typeface="Twentieth Century"/>
                  </a:rPr>
                  <a:t>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4" name="Google Shape;664;p8"/>
            <p:cNvSpPr txBox="1"/>
            <p:nvPr/>
          </p:nvSpPr>
          <p:spPr>
            <a:xfrm>
              <a:off x="6231785" y="3431076"/>
              <a:ext cx="808361" cy="677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 b="1" i="0" u="none" strike="noStrike" cap="none">
                  <a:solidFill>
                    <a:srgbClr val="00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5" name="Google Shape;665;p8"/>
          <p:cNvSpPr txBox="1"/>
          <p:nvPr/>
        </p:nvSpPr>
        <p:spPr>
          <a:xfrm>
            <a:off x="1124325" y="680738"/>
            <a:ext cx="2241600" cy="9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Pre- Construction</a:t>
            </a:r>
            <a:endParaRPr sz="15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Community awareness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Traffic &amp; Access Planning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5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6" name="Google Shape;666;p8"/>
          <p:cNvSpPr/>
          <p:nvPr/>
        </p:nvSpPr>
        <p:spPr>
          <a:xfrm>
            <a:off x="574012" y="734752"/>
            <a:ext cx="378600" cy="3786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8"/>
          <p:cNvSpPr txBox="1"/>
          <p:nvPr/>
        </p:nvSpPr>
        <p:spPr>
          <a:xfrm>
            <a:off x="1124332" y="1546250"/>
            <a:ext cx="2912100" cy="1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During Construction</a:t>
            </a:r>
            <a:endParaRPr sz="14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Noise Pollution Check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Pollution Check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Water quality Check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Soil Pollution Check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Worker health and safety</a:t>
            </a:r>
            <a:endParaRPr sz="11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8" name="Google Shape;668;p8"/>
          <p:cNvSpPr/>
          <p:nvPr/>
        </p:nvSpPr>
        <p:spPr>
          <a:xfrm>
            <a:off x="574012" y="1589747"/>
            <a:ext cx="378600" cy="3786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8"/>
          <p:cNvSpPr/>
          <p:nvPr/>
        </p:nvSpPr>
        <p:spPr>
          <a:xfrm>
            <a:off x="574012" y="2888089"/>
            <a:ext cx="378600" cy="3786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8"/>
          <p:cNvSpPr/>
          <p:nvPr/>
        </p:nvSpPr>
        <p:spPr>
          <a:xfrm>
            <a:off x="574012" y="3958092"/>
            <a:ext cx="378600" cy="3786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8"/>
          <p:cNvSpPr/>
          <p:nvPr/>
        </p:nvSpPr>
        <p:spPr>
          <a:xfrm>
            <a:off x="5696473" y="2476401"/>
            <a:ext cx="2457527" cy="117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Mitigation Measures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8"/>
          <p:cNvSpPr txBox="1"/>
          <p:nvPr/>
        </p:nvSpPr>
        <p:spPr>
          <a:xfrm>
            <a:off x="1124325" y="3947050"/>
            <a:ext cx="3257700" cy="10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Environmental Management Plan</a:t>
            </a:r>
            <a:endParaRPr sz="14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Air, Noise, Soil, Water Quality Check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EHS Officer Appoint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of Monitoring : </a:t>
            </a:r>
            <a:r>
              <a:rPr lang="en-US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48,94,000 BDT</a:t>
            </a:r>
            <a:endParaRPr sz="11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3" name="Google Shape;673;p8"/>
          <p:cNvSpPr txBox="1"/>
          <p:nvPr/>
        </p:nvSpPr>
        <p:spPr>
          <a:xfrm>
            <a:off x="1124324" y="2914750"/>
            <a:ext cx="2912100" cy="12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 Construction</a:t>
            </a:r>
            <a:endParaRPr sz="14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Segregated waste collection system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Adequate drainage for leachate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Recycling of dry waste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4" name="Google Shape;674;p8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9"/>
          <p:cNvSpPr txBox="1"/>
          <p:nvPr/>
        </p:nvSpPr>
        <p:spPr>
          <a:xfrm>
            <a:off x="0" y="-3141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	Feasibility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9"/>
          <p:cNvSpPr/>
          <p:nvPr/>
        </p:nvSpPr>
        <p:spPr>
          <a:xfrm>
            <a:off x="8004517" y="4925148"/>
            <a:ext cx="1139483" cy="2183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81" name="Google Shape;681;p9"/>
          <p:cNvGraphicFramePr/>
          <p:nvPr>
            <p:extLst>
              <p:ext uri="{D42A27DB-BD31-4B8C-83A1-F6EECF244321}">
                <p14:modId xmlns:p14="http://schemas.microsoft.com/office/powerpoint/2010/main" val="865065889"/>
              </p:ext>
            </p:extLst>
          </p:nvPr>
        </p:nvGraphicFramePr>
        <p:xfrm>
          <a:off x="935503" y="561477"/>
          <a:ext cx="7329275" cy="4260575"/>
        </p:xfrm>
        <a:graphic>
          <a:graphicData uri="http://schemas.openxmlformats.org/drawingml/2006/table">
            <a:tbl>
              <a:tblPr firstRow="1" firstCol="1" bandRow="1">
                <a:noFill/>
                <a:tableStyleId>{247BB4CE-655F-4548-BEC3-27E96CD38760}</a:tableStyleId>
              </a:tblPr>
              <a:tblGrid>
                <a:gridCol w="392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6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Preliminary Cost Estimate 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Soil Investigation Cost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1.84 Lac BDT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Foundation Cost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37.43 Lac BDT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Super-structure Cost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109.32 Lac BDT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Additional Super-structure Cost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71.95 Lac BDT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Other Building Cost 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27.52 Lac BDT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Equipment Cost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72.25 Lac BDT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Grand Total Construction Cost 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463.03 Lac BDT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0"/>
          <p:cNvSpPr txBox="1"/>
          <p:nvPr/>
        </p:nvSpPr>
        <p:spPr>
          <a:xfrm>
            <a:off x="0" y="-3141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	Feasibility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7" name="Google Shape;687;p10"/>
          <p:cNvGrpSpPr/>
          <p:nvPr/>
        </p:nvGrpSpPr>
        <p:grpSpPr>
          <a:xfrm>
            <a:off x="-234814" y="433662"/>
            <a:ext cx="6391853" cy="2702399"/>
            <a:chOff x="-66735" y="469813"/>
            <a:chExt cx="6625055" cy="2800994"/>
          </a:xfrm>
        </p:grpSpPr>
        <p:sp>
          <p:nvSpPr>
            <p:cNvPr id="688" name="Google Shape;688;p10"/>
            <p:cNvSpPr/>
            <p:nvPr/>
          </p:nvSpPr>
          <p:spPr>
            <a:xfrm>
              <a:off x="409122" y="1948333"/>
              <a:ext cx="1053689" cy="31455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w="120000" h="120000" fill="none" extrusionOk="0">
                  <a:moveTo>
                    <a:pt x="58572" y="718"/>
                  </a:moveTo>
                  <a:lnTo>
                    <a:pt x="59222" y="-98659"/>
                  </a:lnTo>
                </a:path>
              </a:pathLst>
            </a:custGeom>
            <a:solidFill>
              <a:schemeClr val="lt2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2E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0"/>
            <p:cNvSpPr/>
            <p:nvPr/>
          </p:nvSpPr>
          <p:spPr>
            <a:xfrm>
              <a:off x="1940111" y="469813"/>
              <a:ext cx="2124063" cy="396317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TOTAL COST</a:t>
              </a:r>
              <a:endParaRPr sz="22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690" name="Google Shape;690;p10"/>
            <p:cNvSpPr txBox="1"/>
            <p:nvPr/>
          </p:nvSpPr>
          <p:spPr>
            <a:xfrm>
              <a:off x="240474" y="2257380"/>
              <a:ext cx="1296453" cy="476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rgbClr val="8C7B23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1 lac 84 thousands BDT</a:t>
              </a:r>
              <a:endParaRPr sz="1000" b="0" i="0" u="none" strike="noStrike" cap="none">
                <a:solidFill>
                  <a:srgbClr val="8C7B23"/>
                </a:solidFill>
                <a:latin typeface="Manrope SemiBold"/>
                <a:ea typeface="Manrope SemiBold"/>
                <a:cs typeface="Manrope SemiBold"/>
                <a:sym typeface="Manrope SemiBold"/>
              </a:endParaRPr>
            </a:p>
          </p:txBody>
        </p:sp>
        <p:sp>
          <p:nvSpPr>
            <p:cNvPr id="691" name="Google Shape;691;p10"/>
            <p:cNvSpPr txBox="1"/>
            <p:nvPr/>
          </p:nvSpPr>
          <p:spPr>
            <a:xfrm>
              <a:off x="-66735" y="1231295"/>
              <a:ext cx="2037204" cy="476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261E17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PRE-CONSTRUCTION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261E17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PHASE</a:t>
              </a:r>
              <a:endParaRPr sz="1100" b="0" i="0" u="none" strike="noStrike" cap="none">
                <a:solidFill>
                  <a:srgbClr val="261E17"/>
                </a:solidFill>
                <a:latin typeface="Manrope SemiBold"/>
                <a:ea typeface="Manrope SemiBold"/>
                <a:cs typeface="Manrope SemiBold"/>
                <a:sym typeface="Manrope SemiBold"/>
              </a:endParaRPr>
            </a:p>
          </p:txBody>
        </p:sp>
        <p:sp>
          <p:nvSpPr>
            <p:cNvPr id="692" name="Google Shape;692;p10"/>
            <p:cNvSpPr txBox="1"/>
            <p:nvPr/>
          </p:nvSpPr>
          <p:spPr>
            <a:xfrm>
              <a:off x="352527" y="1743036"/>
              <a:ext cx="1296453" cy="378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93" name="Google Shape;693;p10"/>
            <p:cNvSpPr txBox="1"/>
            <p:nvPr/>
          </p:nvSpPr>
          <p:spPr>
            <a:xfrm>
              <a:off x="1491491" y="2196469"/>
              <a:ext cx="1341437" cy="561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rgbClr val="8C7B23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4 crore 12 Lac 40 Thousands BDT </a:t>
              </a:r>
              <a:endParaRPr sz="1000" b="0" i="0" u="none" strike="noStrike" cap="none">
                <a:solidFill>
                  <a:srgbClr val="8C7B23"/>
                </a:solidFill>
                <a:latin typeface="Manrope SemiBold"/>
                <a:ea typeface="Manrope SemiBold"/>
                <a:cs typeface="Manrope SemiBold"/>
                <a:sym typeface="Manrope SemiBold"/>
              </a:endParaRPr>
            </a:p>
          </p:txBody>
        </p:sp>
        <p:sp>
          <p:nvSpPr>
            <p:cNvPr id="694" name="Google Shape;694;p10"/>
            <p:cNvSpPr txBox="1"/>
            <p:nvPr/>
          </p:nvSpPr>
          <p:spPr>
            <a:xfrm>
              <a:off x="2156793" y="1231295"/>
              <a:ext cx="1737496" cy="3426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261E17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CONSTRUCTION PHASE</a:t>
              </a:r>
              <a:endParaRPr sz="1100" b="0" i="0" u="none" strike="noStrike" cap="none">
                <a:solidFill>
                  <a:srgbClr val="261E17"/>
                </a:solidFill>
                <a:latin typeface="Manrope SemiBold"/>
                <a:ea typeface="Manrope SemiBold"/>
                <a:cs typeface="Manrope SemiBold"/>
                <a:sym typeface="Manrope SemiBold"/>
              </a:endParaRPr>
            </a:p>
          </p:txBody>
        </p:sp>
        <p:sp>
          <p:nvSpPr>
            <p:cNvPr id="695" name="Google Shape;695;p10"/>
            <p:cNvSpPr txBox="1"/>
            <p:nvPr/>
          </p:nvSpPr>
          <p:spPr>
            <a:xfrm>
              <a:off x="3155367" y="2390214"/>
              <a:ext cx="1296453" cy="476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rgbClr val="8C7B23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48 lac 50 thousands BDT </a:t>
              </a:r>
              <a:endParaRPr sz="1000" b="0" i="0" u="none" strike="noStrike" cap="none">
                <a:solidFill>
                  <a:srgbClr val="8C7B23"/>
                </a:solidFill>
                <a:latin typeface="Manrope SemiBold"/>
                <a:ea typeface="Manrope SemiBold"/>
                <a:cs typeface="Manrope SemiBold"/>
                <a:sym typeface="Manrope SemiBold"/>
              </a:endParaRPr>
            </a:p>
          </p:txBody>
        </p:sp>
        <p:sp>
          <p:nvSpPr>
            <p:cNvPr id="696" name="Google Shape;696;p10"/>
            <p:cNvSpPr txBox="1"/>
            <p:nvPr/>
          </p:nvSpPr>
          <p:spPr>
            <a:xfrm>
              <a:off x="4109665" y="1239348"/>
              <a:ext cx="1782210" cy="396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261E17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POST CONSTRUCTION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261E17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PHASE </a:t>
              </a:r>
              <a:endParaRPr sz="1100" b="0" i="0" u="none" strike="noStrike" cap="none">
                <a:solidFill>
                  <a:srgbClr val="261E17"/>
                </a:solidFill>
                <a:latin typeface="Manrope SemiBold"/>
                <a:ea typeface="Manrope SemiBold"/>
                <a:cs typeface="Manrope SemiBold"/>
                <a:sym typeface="Manrope SemiBold"/>
              </a:endParaRPr>
            </a:p>
          </p:txBody>
        </p:sp>
        <p:cxnSp>
          <p:nvCxnSpPr>
            <p:cNvPr id="697" name="Google Shape;697;p10"/>
            <p:cNvCxnSpPr>
              <a:stCxn id="689" idx="1"/>
            </p:cNvCxnSpPr>
            <p:nvPr/>
          </p:nvCxnSpPr>
          <p:spPr>
            <a:xfrm flipH="1">
              <a:off x="897911" y="667972"/>
              <a:ext cx="1042200" cy="583800"/>
            </a:xfrm>
            <a:prstGeom prst="bentConnector3">
              <a:avLst>
                <a:gd name="adj1" fmla="val 59301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8" name="Google Shape;698;p10"/>
            <p:cNvCxnSpPr>
              <a:stCxn id="689" idx="3"/>
            </p:cNvCxnSpPr>
            <p:nvPr/>
          </p:nvCxnSpPr>
          <p:spPr>
            <a:xfrm>
              <a:off x="4064174" y="667972"/>
              <a:ext cx="905100" cy="527100"/>
            </a:xfrm>
            <a:prstGeom prst="bentConnector3">
              <a:avLst>
                <a:gd name="adj1" fmla="val 181169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9" name="Google Shape;699;p10"/>
            <p:cNvCxnSpPr>
              <a:stCxn id="689" idx="2"/>
            </p:cNvCxnSpPr>
            <p:nvPr/>
          </p:nvCxnSpPr>
          <p:spPr>
            <a:xfrm>
              <a:off x="3002143" y="866130"/>
              <a:ext cx="0" cy="385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0" name="Google Shape;700;p10"/>
            <p:cNvCxnSpPr>
              <a:stCxn id="694" idx="2"/>
            </p:cNvCxnSpPr>
            <p:nvPr/>
          </p:nvCxnSpPr>
          <p:spPr>
            <a:xfrm flipH="1">
              <a:off x="2995541" y="1573963"/>
              <a:ext cx="30000" cy="281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01" name="Google Shape;701;p10"/>
            <p:cNvSpPr txBox="1"/>
            <p:nvPr/>
          </p:nvSpPr>
          <p:spPr>
            <a:xfrm>
              <a:off x="361079" y="1970167"/>
              <a:ext cx="14172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61E17"/>
                  </a:solidFill>
                  <a:latin typeface="Arial"/>
                  <a:ea typeface="Arial"/>
                  <a:cs typeface="Arial"/>
                  <a:sym typeface="Arial"/>
                </a:rPr>
                <a:t>Soil Investigation</a:t>
              </a:r>
              <a:endParaRPr sz="900" b="0" i="0" u="none" strike="noStrike" cap="none">
                <a:solidFill>
                  <a:srgbClr val="261E1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0"/>
            <p:cNvSpPr/>
            <p:nvPr/>
          </p:nvSpPr>
          <p:spPr>
            <a:xfrm>
              <a:off x="3143642" y="1906228"/>
              <a:ext cx="1296453" cy="42084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w="120000" h="120000" fill="none" extrusionOk="0">
                  <a:moveTo>
                    <a:pt x="-871" y="74302"/>
                  </a:moveTo>
                  <a:lnTo>
                    <a:pt x="-12967" y="-14273"/>
                  </a:lnTo>
                </a:path>
              </a:pathLst>
            </a:custGeom>
            <a:solidFill>
              <a:schemeClr val="lt2"/>
            </a:solidFill>
            <a:ln w="28575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61E17"/>
                  </a:solidFill>
                  <a:latin typeface="Arial"/>
                  <a:ea typeface="Arial"/>
                  <a:cs typeface="Arial"/>
                  <a:sym typeface="Arial"/>
                </a:rPr>
                <a:t>Environmental Monitoring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0"/>
            <p:cNvSpPr/>
            <p:nvPr/>
          </p:nvSpPr>
          <p:spPr>
            <a:xfrm>
              <a:off x="1700537" y="1915307"/>
              <a:ext cx="1301605" cy="396317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w="120000" h="120000" fill="none" extrusionOk="0">
                  <a:moveTo>
                    <a:pt x="-871" y="74302"/>
                  </a:moveTo>
                  <a:lnTo>
                    <a:pt x="-12006" y="-15752"/>
                  </a:lnTo>
                </a:path>
              </a:pathLst>
            </a:custGeom>
            <a:solidFill>
              <a:schemeClr val="lt2"/>
            </a:solidFill>
            <a:ln w="28575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2E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0"/>
            <p:cNvSpPr txBox="1"/>
            <p:nvPr/>
          </p:nvSpPr>
          <p:spPr>
            <a:xfrm>
              <a:off x="1579923" y="1928729"/>
              <a:ext cx="1224000" cy="414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rgbClr val="261E17"/>
                  </a:solidFill>
                  <a:latin typeface="Arial"/>
                  <a:ea typeface="Arial"/>
                  <a:cs typeface="Arial"/>
                  <a:sym typeface="Arial"/>
                </a:rPr>
                <a:t>Materials, Labor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rgbClr val="261E17"/>
                  </a:solidFill>
                  <a:latin typeface="Arial"/>
                  <a:ea typeface="Arial"/>
                  <a:cs typeface="Arial"/>
                  <a:sym typeface="Arial"/>
                </a:rPr>
                <a:t>&amp; Equipment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0"/>
            <p:cNvSpPr/>
            <p:nvPr/>
          </p:nvSpPr>
          <p:spPr>
            <a:xfrm>
              <a:off x="4575877" y="1593829"/>
              <a:ext cx="1297335" cy="1272890"/>
            </a:xfrm>
            <a:custGeom>
              <a:avLst/>
              <a:gdLst/>
              <a:ahLst/>
              <a:cxnLst/>
              <a:rect l="l" t="t" r="r" b="b"/>
              <a:pathLst>
                <a:path w="1813833" h="1779656" extrusionOk="0">
                  <a:moveTo>
                    <a:pt x="243152" y="54259"/>
                  </a:moveTo>
                  <a:lnTo>
                    <a:pt x="1813833" y="54259"/>
                  </a:lnTo>
                  <a:lnTo>
                    <a:pt x="1813833" y="441599"/>
                  </a:lnTo>
                  <a:lnTo>
                    <a:pt x="243152" y="441599"/>
                  </a:lnTo>
                  <a:lnTo>
                    <a:pt x="243152" y="54259"/>
                  </a:lnTo>
                  <a:close/>
                </a:path>
                <a:path w="1813833" h="1779656" fill="none" extrusionOk="0">
                  <a:moveTo>
                    <a:pt x="112267" y="126885"/>
                  </a:moveTo>
                  <a:lnTo>
                    <a:pt x="17649" y="126885"/>
                  </a:lnTo>
                  <a:cubicBezTo>
                    <a:pt x="1357" y="248737"/>
                    <a:pt x="1569" y="1414099"/>
                    <a:pt x="4" y="1779656"/>
                  </a:cubicBezTo>
                  <a:cubicBezTo>
                    <a:pt x="-279" y="1758509"/>
                    <a:pt x="13295" y="24466"/>
                    <a:pt x="15953" y="0"/>
                  </a:cubicBezTo>
                </a:path>
              </a:pathLst>
            </a:custGeom>
            <a:solidFill>
              <a:schemeClr val="lt2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rgbClr val="F2E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0"/>
            <p:cNvSpPr/>
            <p:nvPr/>
          </p:nvSpPr>
          <p:spPr>
            <a:xfrm>
              <a:off x="4571605" y="2197128"/>
              <a:ext cx="1301608" cy="280295"/>
            </a:xfrm>
            <a:custGeom>
              <a:avLst/>
              <a:gdLst/>
              <a:ahLst/>
              <a:cxnLst/>
              <a:rect l="l" t="t" r="r" b="b"/>
              <a:pathLst>
                <a:path w="1819807" h="391886" extrusionOk="0">
                  <a:moveTo>
                    <a:pt x="259977" y="0"/>
                  </a:moveTo>
                  <a:lnTo>
                    <a:pt x="1819807" y="0"/>
                  </a:lnTo>
                  <a:lnTo>
                    <a:pt x="1819807" y="391886"/>
                  </a:lnTo>
                  <a:lnTo>
                    <a:pt x="259977" y="391886"/>
                  </a:lnTo>
                  <a:lnTo>
                    <a:pt x="259977" y="0"/>
                  </a:lnTo>
                  <a:close/>
                </a:path>
                <a:path w="1819807" h="391886" fill="none" extrusionOk="0">
                  <a:moveTo>
                    <a:pt x="122930" y="73479"/>
                  </a:moveTo>
                  <a:lnTo>
                    <a:pt x="0" y="73479"/>
                  </a:lnTo>
                </a:path>
              </a:pathLst>
            </a:custGeom>
            <a:solidFill>
              <a:schemeClr val="lt2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rgbClr val="F2E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0"/>
            <p:cNvSpPr/>
            <p:nvPr/>
          </p:nvSpPr>
          <p:spPr>
            <a:xfrm>
              <a:off x="4571605" y="2747175"/>
              <a:ext cx="1301608" cy="280295"/>
            </a:xfrm>
            <a:custGeom>
              <a:avLst/>
              <a:gdLst/>
              <a:ahLst/>
              <a:cxnLst/>
              <a:rect l="l" t="t" r="r" b="b"/>
              <a:pathLst>
                <a:path w="1819807" h="391886" extrusionOk="0">
                  <a:moveTo>
                    <a:pt x="259977" y="0"/>
                  </a:moveTo>
                  <a:lnTo>
                    <a:pt x="1819807" y="0"/>
                  </a:lnTo>
                  <a:lnTo>
                    <a:pt x="1819807" y="391886"/>
                  </a:lnTo>
                  <a:lnTo>
                    <a:pt x="259977" y="391886"/>
                  </a:lnTo>
                  <a:lnTo>
                    <a:pt x="259977" y="0"/>
                  </a:lnTo>
                  <a:close/>
                </a:path>
                <a:path w="1819807" h="391886" fill="none" extrusionOk="0">
                  <a:moveTo>
                    <a:pt x="122930" y="73479"/>
                  </a:moveTo>
                  <a:lnTo>
                    <a:pt x="0" y="73479"/>
                  </a:lnTo>
                </a:path>
              </a:pathLst>
            </a:custGeom>
            <a:solidFill>
              <a:schemeClr val="lt2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rgbClr val="F2E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0"/>
            <p:cNvSpPr txBox="1"/>
            <p:nvPr/>
          </p:nvSpPr>
          <p:spPr>
            <a:xfrm>
              <a:off x="4792557" y="1574425"/>
              <a:ext cx="1080600" cy="35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61E17"/>
                  </a:solidFill>
                  <a:latin typeface="Arial"/>
                  <a:ea typeface="Arial"/>
                  <a:cs typeface="Arial"/>
                  <a:sym typeface="Arial"/>
                </a:rPr>
                <a:t>Operation &amp;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61E17"/>
                  </a:solidFill>
                  <a:latin typeface="Arial"/>
                  <a:ea typeface="Arial"/>
                  <a:cs typeface="Arial"/>
                  <a:sym typeface="Arial"/>
                </a:rPr>
                <a:t>Maintenance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10"/>
            <p:cNvSpPr txBox="1"/>
            <p:nvPr/>
          </p:nvSpPr>
          <p:spPr>
            <a:xfrm>
              <a:off x="4732353" y="2179931"/>
              <a:ext cx="1346100" cy="35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61E17"/>
                  </a:solidFill>
                  <a:latin typeface="Arial"/>
                  <a:ea typeface="Arial"/>
                  <a:cs typeface="Arial"/>
                  <a:sym typeface="Arial"/>
                </a:rPr>
                <a:t>Legal &amp; Administrative Cost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0"/>
            <p:cNvSpPr txBox="1"/>
            <p:nvPr/>
          </p:nvSpPr>
          <p:spPr>
            <a:xfrm>
              <a:off x="4702246" y="2711420"/>
              <a:ext cx="1170900" cy="35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61E17"/>
                  </a:solidFill>
                  <a:latin typeface="Arial"/>
                  <a:ea typeface="Arial"/>
                  <a:cs typeface="Arial"/>
                  <a:sym typeface="Arial"/>
                </a:rPr>
                <a:t>Quality Assurance Cost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0"/>
            <p:cNvSpPr txBox="1"/>
            <p:nvPr/>
          </p:nvSpPr>
          <p:spPr>
            <a:xfrm>
              <a:off x="4743430" y="1886646"/>
              <a:ext cx="967094" cy="298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rgbClr val="8C7B23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60 lac BDT </a:t>
              </a:r>
              <a:endParaRPr sz="1050" b="0" i="0" u="none" strike="noStrike" cap="none">
                <a:solidFill>
                  <a:srgbClr val="8C7B23"/>
                </a:solidFill>
                <a:latin typeface="Manrope SemiBold"/>
                <a:ea typeface="Manrope SemiBold"/>
                <a:cs typeface="Manrope SemiBold"/>
                <a:sym typeface="Manrope SemiBold"/>
              </a:endParaRPr>
            </a:p>
          </p:txBody>
        </p:sp>
        <p:sp>
          <p:nvSpPr>
            <p:cNvPr id="712" name="Google Shape;712;p10"/>
            <p:cNvSpPr txBox="1"/>
            <p:nvPr/>
          </p:nvSpPr>
          <p:spPr>
            <a:xfrm>
              <a:off x="4738855" y="3005907"/>
              <a:ext cx="9672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8C7B23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3 lac BDT </a:t>
              </a:r>
              <a:endParaRPr sz="1100" b="0" i="0" u="none" strike="noStrike" cap="none">
                <a:solidFill>
                  <a:srgbClr val="8C7B23"/>
                </a:solidFill>
                <a:latin typeface="Manrope SemiBold"/>
                <a:ea typeface="Manrope SemiBold"/>
                <a:cs typeface="Manrope SemiBold"/>
                <a:sym typeface="Manrope SemiBold"/>
              </a:endParaRPr>
            </a:p>
          </p:txBody>
        </p:sp>
        <p:sp>
          <p:nvSpPr>
            <p:cNvPr id="713" name="Google Shape;713;p10"/>
            <p:cNvSpPr txBox="1"/>
            <p:nvPr/>
          </p:nvSpPr>
          <p:spPr>
            <a:xfrm>
              <a:off x="4646120" y="2437825"/>
              <a:ext cx="19122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rgbClr val="8C7B23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12 lac 45 thousands BDT </a:t>
              </a:r>
              <a:endParaRPr sz="1000" b="0" i="0" u="none" strike="noStrike" cap="none">
                <a:solidFill>
                  <a:srgbClr val="8C7B23"/>
                </a:solidFill>
                <a:latin typeface="Manrope SemiBold"/>
                <a:ea typeface="Manrope SemiBold"/>
                <a:cs typeface="Manrope SemiBold"/>
                <a:sym typeface="Manrope SemiBold"/>
              </a:endParaRPr>
            </a:p>
          </p:txBody>
        </p:sp>
      </p:grpSp>
      <p:graphicFrame>
        <p:nvGraphicFramePr>
          <p:cNvPr id="714" name="Google Shape;714;p10"/>
          <p:cNvGraphicFramePr/>
          <p:nvPr/>
        </p:nvGraphicFramePr>
        <p:xfrm>
          <a:off x="3821942" y="3049193"/>
          <a:ext cx="4746900" cy="2082810"/>
        </p:xfrm>
        <a:graphic>
          <a:graphicData uri="http://schemas.openxmlformats.org/drawingml/2006/table">
            <a:tbl>
              <a:tblPr>
                <a:noFill/>
                <a:tableStyleId>{849F9FD0-1714-4D6C-8942-DF13B7125804}</a:tableStyleId>
              </a:tblPr>
              <a:tblGrid>
                <a:gridCol w="158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Manrope SemiBold"/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dk1"/>
                          </a:solidFill>
                          <a:latin typeface="Manrope SemiBold"/>
                          <a:ea typeface="Manrope SemiBold"/>
                          <a:cs typeface="Manrope SemiBold"/>
                          <a:sym typeface="Manrope SemiBold"/>
                        </a:rPr>
                        <a:t>SOURCE</a:t>
                      </a:r>
                      <a:endParaRPr sz="1500" b="1" u="none" strike="noStrike" cap="none">
                        <a:solidFill>
                          <a:schemeClr val="dk1"/>
                        </a:solidFill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L="70275" marR="70275" marT="70275" marB="702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Manrope SemiBold"/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dk1"/>
                          </a:solidFill>
                          <a:latin typeface="Manrope SemiBold"/>
                          <a:ea typeface="Manrope SemiBold"/>
                          <a:cs typeface="Manrope SemiBold"/>
                          <a:sym typeface="Manrope SemiBold"/>
                        </a:rPr>
                        <a:t>RATE</a:t>
                      </a:r>
                      <a:endParaRPr sz="1500" b="1" u="none" strike="noStrike" cap="none">
                        <a:solidFill>
                          <a:schemeClr val="dk1"/>
                        </a:solidFill>
                        <a:latin typeface="Manrope SemiBold"/>
                        <a:ea typeface="Manrope SemiBold"/>
                        <a:cs typeface="Manrope SemiBold"/>
                        <a:sym typeface="Manrope SemiBold"/>
                      </a:endParaRPr>
                    </a:p>
                  </a:txBody>
                  <a:tcPr marL="70275" marR="70275" marT="70275" marB="702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Manrope SemiBold"/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dk1"/>
                          </a:solidFill>
                          <a:latin typeface="Manrope SemiBold"/>
                          <a:ea typeface="Manrope SemiBold"/>
                          <a:cs typeface="Manrope SemiBold"/>
                          <a:sym typeface="Manrope SemiBold"/>
                        </a:rPr>
                        <a:t>TOTAL REVENUE PER YEAR</a:t>
                      </a:r>
                      <a:endParaRPr sz="1400" u="none" strike="noStrike" cap="none"/>
                    </a:p>
                  </a:txBody>
                  <a:tcPr marL="70275" marR="70275" marT="70275" marB="702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Inter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Reuse/ Recycle</a:t>
                      </a:r>
                      <a:endParaRPr sz="1600" b="1" u="none" strike="noStrike" cap="none">
                        <a:solidFill>
                          <a:srgbClr val="FF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0275" marR="70275" marT="70275" marB="702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TK. 25,000 per ton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0275" marR="70275" marT="70275" marB="702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350 Lacs</a:t>
                      </a:r>
                      <a:r>
                        <a:rPr lang="en-US" sz="1050" u="none" strike="noStrike" cap="none"/>
                        <a:t> </a:t>
                      </a:r>
                      <a:br>
                        <a:rPr lang="en-US" sz="900" u="none" strike="noStrike" cap="none"/>
                      </a:br>
                      <a:endParaRPr sz="900" u="none" strike="noStrike" cap="non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0275" marR="70275" marT="70275" marB="702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Inter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Waste Collection Bill</a:t>
                      </a:r>
                      <a:endParaRPr sz="1600" b="1" u="none" strike="noStrike" cap="none">
                        <a:solidFill>
                          <a:srgbClr val="FF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0275" marR="70275" marT="70275" marB="702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Inter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TK. 60,000 per month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0275" marR="70275" marT="70275" marB="702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br>
                        <a:rPr lang="en-US" sz="900" u="none" strike="noStrike" cap="none"/>
                      </a:b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 Lacs 20 Thousands </a:t>
                      </a:r>
                      <a:br>
                        <a:rPr lang="en-US" sz="900" u="none" strike="noStrike" cap="none"/>
                      </a:br>
                      <a:endParaRPr sz="900" u="none" strike="noStrike" cap="non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0275" marR="70275" marT="70275" marB="702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5" name="Google Shape;715;p10"/>
          <p:cNvSpPr/>
          <p:nvPr/>
        </p:nvSpPr>
        <p:spPr>
          <a:xfrm>
            <a:off x="937810" y="3516644"/>
            <a:ext cx="2245993" cy="127471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AF9F9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REVENUE BREAKDOWN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0"/>
          <p:cNvSpPr/>
          <p:nvPr/>
        </p:nvSpPr>
        <p:spPr>
          <a:xfrm>
            <a:off x="8058614" y="4925148"/>
            <a:ext cx="1085385" cy="2183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11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0"/>
          <p:cNvSpPr txBox="1"/>
          <p:nvPr/>
        </p:nvSpPr>
        <p:spPr>
          <a:xfrm>
            <a:off x="6822946" y="1082998"/>
            <a:ext cx="20304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Benefit Analysis</a:t>
            </a:r>
            <a:endParaRPr sz="2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8" name="Google Shape;71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5657" y="1082998"/>
            <a:ext cx="723747" cy="723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1"/>
          <p:cNvSpPr txBox="1"/>
          <p:nvPr/>
        </p:nvSpPr>
        <p:spPr>
          <a:xfrm>
            <a:off x="0" y="-3141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	Feasibility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11" descr="A diagram of numbers and arrow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432" y="580799"/>
            <a:ext cx="7198596" cy="21414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5" name="Google Shape;725;p11"/>
          <p:cNvGrpSpPr/>
          <p:nvPr/>
        </p:nvGrpSpPr>
        <p:grpSpPr>
          <a:xfrm>
            <a:off x="613625" y="3055221"/>
            <a:ext cx="6895144" cy="1869927"/>
            <a:chOff x="1446580" y="1067582"/>
            <a:chExt cx="6895144" cy="1869927"/>
          </a:xfrm>
        </p:grpSpPr>
        <p:grpSp>
          <p:nvGrpSpPr>
            <p:cNvPr id="726" name="Google Shape;726;p11"/>
            <p:cNvGrpSpPr/>
            <p:nvPr/>
          </p:nvGrpSpPr>
          <p:grpSpPr>
            <a:xfrm>
              <a:off x="1446580" y="1067582"/>
              <a:ext cx="6895144" cy="1869927"/>
              <a:chOff x="1446580" y="1067582"/>
              <a:chExt cx="6895144" cy="1869927"/>
            </a:xfrm>
          </p:grpSpPr>
          <p:cxnSp>
            <p:nvCxnSpPr>
              <p:cNvPr id="727" name="Google Shape;727;p11"/>
              <p:cNvCxnSpPr/>
              <p:nvPr/>
            </p:nvCxnSpPr>
            <p:spPr>
              <a:xfrm>
                <a:off x="4938715" y="2915347"/>
                <a:ext cx="3403009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345A9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28" name="Google Shape;728;p11"/>
              <p:cNvCxnSpPr/>
              <p:nvPr/>
            </p:nvCxnSpPr>
            <p:spPr>
              <a:xfrm>
                <a:off x="4898966" y="1982594"/>
                <a:ext cx="3403046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345A9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29" name="Google Shape;729;p11"/>
              <p:cNvCxnSpPr/>
              <p:nvPr/>
            </p:nvCxnSpPr>
            <p:spPr>
              <a:xfrm>
                <a:off x="1523023" y="2915347"/>
                <a:ext cx="3403046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345A9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0" name="Google Shape;730;p11"/>
              <p:cNvCxnSpPr/>
              <p:nvPr/>
            </p:nvCxnSpPr>
            <p:spPr>
              <a:xfrm>
                <a:off x="1492277" y="1984543"/>
                <a:ext cx="3403046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345A9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731" name="Google Shape;731;p11"/>
              <p:cNvSpPr/>
              <p:nvPr/>
            </p:nvSpPr>
            <p:spPr>
              <a:xfrm>
                <a:off x="3014026" y="1098062"/>
                <a:ext cx="4461193" cy="886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11"/>
              <p:cNvSpPr/>
              <p:nvPr/>
            </p:nvSpPr>
            <p:spPr>
              <a:xfrm>
                <a:off x="1446580" y="1098062"/>
                <a:ext cx="1567446" cy="886480"/>
              </a:xfrm>
              <a:custGeom>
                <a:avLst/>
                <a:gdLst/>
                <a:ahLst/>
                <a:cxnLst/>
                <a:rect l="l" t="t" r="r" b="b"/>
                <a:pathLst>
                  <a:path w="1567446" h="886480" extrusionOk="0">
                    <a:moveTo>
                      <a:pt x="147776" y="0"/>
                    </a:moveTo>
                    <a:lnTo>
                      <a:pt x="1419670" y="0"/>
                    </a:lnTo>
                    <a:cubicBezTo>
                      <a:pt x="1501284" y="0"/>
                      <a:pt x="1567446" y="66162"/>
                      <a:pt x="1567446" y="147776"/>
                    </a:cubicBezTo>
                    <a:lnTo>
                      <a:pt x="1567446" y="886480"/>
                    </a:lnTo>
                    <a:lnTo>
                      <a:pt x="1567446" y="886480"/>
                    </a:lnTo>
                    <a:lnTo>
                      <a:pt x="0" y="886480"/>
                    </a:lnTo>
                    <a:lnTo>
                      <a:pt x="0" y="886480"/>
                    </a:lnTo>
                    <a:lnTo>
                      <a:pt x="0" y="147776"/>
                    </a:lnTo>
                    <a:cubicBezTo>
                      <a:pt x="0" y="66162"/>
                      <a:pt x="66162" y="0"/>
                      <a:pt x="147776" y="0"/>
                    </a:cubicBezTo>
                    <a:close/>
                  </a:path>
                </a:pathLst>
              </a:custGeom>
              <a:solidFill>
                <a:srgbClr val="4372C3"/>
              </a:solidFill>
              <a:ln w="12700" cap="flat" cmpd="sng">
                <a:solidFill>
                  <a:srgbClr val="4372C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475" tIns="79475" rIns="79475" bIns="361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rPr lang="en-US" sz="19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NPV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11"/>
              <p:cNvSpPr/>
              <p:nvPr/>
            </p:nvSpPr>
            <p:spPr>
              <a:xfrm>
                <a:off x="3014026" y="2028867"/>
                <a:ext cx="4461193" cy="886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11"/>
              <p:cNvSpPr/>
              <p:nvPr/>
            </p:nvSpPr>
            <p:spPr>
              <a:xfrm>
                <a:off x="1446580" y="2028867"/>
                <a:ext cx="1567446" cy="886480"/>
              </a:xfrm>
              <a:custGeom>
                <a:avLst/>
                <a:gdLst/>
                <a:ahLst/>
                <a:cxnLst/>
                <a:rect l="l" t="t" r="r" b="b"/>
                <a:pathLst>
                  <a:path w="1567446" h="886480" extrusionOk="0">
                    <a:moveTo>
                      <a:pt x="147776" y="0"/>
                    </a:moveTo>
                    <a:lnTo>
                      <a:pt x="1419670" y="0"/>
                    </a:lnTo>
                    <a:cubicBezTo>
                      <a:pt x="1501284" y="0"/>
                      <a:pt x="1567446" y="66162"/>
                      <a:pt x="1567446" y="147776"/>
                    </a:cubicBezTo>
                    <a:lnTo>
                      <a:pt x="1567446" y="886480"/>
                    </a:lnTo>
                    <a:lnTo>
                      <a:pt x="1567446" y="886480"/>
                    </a:lnTo>
                    <a:lnTo>
                      <a:pt x="0" y="886480"/>
                    </a:lnTo>
                    <a:lnTo>
                      <a:pt x="0" y="886480"/>
                    </a:lnTo>
                    <a:lnTo>
                      <a:pt x="0" y="147776"/>
                    </a:lnTo>
                    <a:cubicBezTo>
                      <a:pt x="0" y="66162"/>
                      <a:pt x="66162" y="0"/>
                      <a:pt x="147776" y="0"/>
                    </a:cubicBezTo>
                    <a:close/>
                  </a:path>
                </a:pathLst>
              </a:custGeom>
              <a:solidFill>
                <a:srgbClr val="4372C3"/>
              </a:solidFill>
              <a:ln w="12700" cap="flat" cmpd="sng">
                <a:solidFill>
                  <a:srgbClr val="4372C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475" tIns="79475" rIns="79475" bIns="361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rPr lang="en-US" sz="19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IRR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11"/>
              <p:cNvSpPr/>
              <p:nvPr/>
            </p:nvSpPr>
            <p:spPr>
              <a:xfrm>
                <a:off x="5480899" y="1067582"/>
                <a:ext cx="1567446" cy="886480"/>
              </a:xfrm>
              <a:custGeom>
                <a:avLst/>
                <a:gdLst/>
                <a:ahLst/>
                <a:cxnLst/>
                <a:rect l="l" t="t" r="r" b="b"/>
                <a:pathLst>
                  <a:path w="1567446" h="886480" extrusionOk="0">
                    <a:moveTo>
                      <a:pt x="147776" y="0"/>
                    </a:moveTo>
                    <a:lnTo>
                      <a:pt x="1419670" y="0"/>
                    </a:lnTo>
                    <a:cubicBezTo>
                      <a:pt x="1501284" y="0"/>
                      <a:pt x="1567446" y="66162"/>
                      <a:pt x="1567446" y="147776"/>
                    </a:cubicBezTo>
                    <a:lnTo>
                      <a:pt x="1567446" y="886480"/>
                    </a:lnTo>
                    <a:lnTo>
                      <a:pt x="1567446" y="886480"/>
                    </a:lnTo>
                    <a:lnTo>
                      <a:pt x="0" y="886480"/>
                    </a:lnTo>
                    <a:lnTo>
                      <a:pt x="0" y="886480"/>
                    </a:lnTo>
                    <a:lnTo>
                      <a:pt x="0" y="147776"/>
                    </a:lnTo>
                    <a:cubicBezTo>
                      <a:pt x="0" y="66162"/>
                      <a:pt x="66162" y="0"/>
                      <a:pt x="147776" y="0"/>
                    </a:cubicBezTo>
                    <a:close/>
                  </a:path>
                </a:pathLst>
              </a:custGeom>
              <a:solidFill>
                <a:srgbClr val="4372C3"/>
              </a:solidFill>
              <a:ln w="12700" cap="flat" cmpd="sng">
                <a:solidFill>
                  <a:srgbClr val="4372C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475" tIns="79475" rIns="79475" bIns="361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rPr lang="en-US" sz="19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DISCOUNT RATE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11"/>
              <p:cNvSpPr/>
              <p:nvPr/>
            </p:nvSpPr>
            <p:spPr>
              <a:xfrm>
                <a:off x="5440681" y="2051029"/>
                <a:ext cx="1567446" cy="886480"/>
              </a:xfrm>
              <a:custGeom>
                <a:avLst/>
                <a:gdLst/>
                <a:ahLst/>
                <a:cxnLst/>
                <a:rect l="l" t="t" r="r" b="b"/>
                <a:pathLst>
                  <a:path w="1567446" h="886480" extrusionOk="0">
                    <a:moveTo>
                      <a:pt x="147776" y="0"/>
                    </a:moveTo>
                    <a:lnTo>
                      <a:pt x="1419670" y="0"/>
                    </a:lnTo>
                    <a:cubicBezTo>
                      <a:pt x="1501284" y="0"/>
                      <a:pt x="1567446" y="66162"/>
                      <a:pt x="1567446" y="147776"/>
                    </a:cubicBezTo>
                    <a:lnTo>
                      <a:pt x="1567446" y="886480"/>
                    </a:lnTo>
                    <a:lnTo>
                      <a:pt x="1567446" y="886480"/>
                    </a:lnTo>
                    <a:lnTo>
                      <a:pt x="0" y="886480"/>
                    </a:lnTo>
                    <a:lnTo>
                      <a:pt x="0" y="886480"/>
                    </a:lnTo>
                    <a:lnTo>
                      <a:pt x="0" y="147776"/>
                    </a:lnTo>
                    <a:cubicBezTo>
                      <a:pt x="0" y="66162"/>
                      <a:pt x="66162" y="0"/>
                      <a:pt x="147776" y="0"/>
                    </a:cubicBezTo>
                    <a:close/>
                  </a:path>
                </a:pathLst>
              </a:custGeom>
              <a:solidFill>
                <a:srgbClr val="4372C3"/>
              </a:solidFill>
              <a:ln w="12700" cap="flat" cmpd="sng">
                <a:solidFill>
                  <a:srgbClr val="4372C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9475" tIns="79475" rIns="79475" bIns="361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rPr lang="en-US" sz="19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BENEFIT-COST RATIO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37" name="Google Shape;737;p11"/>
            <p:cNvSpPr txBox="1"/>
            <p:nvPr/>
          </p:nvSpPr>
          <p:spPr>
            <a:xfrm>
              <a:off x="3023739" y="1273164"/>
              <a:ext cx="23788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261E17"/>
                  </a:solidFill>
                  <a:latin typeface="Arial"/>
                  <a:ea typeface="Arial"/>
                  <a:cs typeface="Arial"/>
                  <a:sym typeface="Arial"/>
                </a:rPr>
                <a:t>4 Crore 87 Lac BDT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1"/>
            <p:cNvSpPr txBox="1"/>
            <p:nvPr/>
          </p:nvSpPr>
          <p:spPr>
            <a:xfrm>
              <a:off x="3068057" y="2309603"/>
              <a:ext cx="12255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261E17"/>
                  </a:solidFill>
                  <a:latin typeface="Arial"/>
                  <a:ea typeface="Arial"/>
                  <a:cs typeface="Arial"/>
                  <a:sym typeface="Arial"/>
                </a:rPr>
                <a:t>0.2%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11"/>
            <p:cNvSpPr txBox="1"/>
            <p:nvPr/>
          </p:nvSpPr>
          <p:spPr>
            <a:xfrm>
              <a:off x="7191856" y="1304703"/>
              <a:ext cx="10111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261E17"/>
                  </a:solidFill>
                  <a:latin typeface="Arial"/>
                  <a:ea typeface="Arial"/>
                  <a:cs typeface="Arial"/>
                  <a:sym typeface="Arial"/>
                </a:rPr>
                <a:t>12%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11"/>
            <p:cNvSpPr txBox="1"/>
            <p:nvPr/>
          </p:nvSpPr>
          <p:spPr>
            <a:xfrm>
              <a:off x="7203202" y="2383511"/>
              <a:ext cx="10111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261E17"/>
                  </a:solidFill>
                  <a:latin typeface="Arial"/>
                  <a:ea typeface="Arial"/>
                  <a:cs typeface="Arial"/>
                  <a:sym typeface="Arial"/>
                </a:rPr>
                <a:t>0.73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1" name="Google Shape;741;p11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12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1"/>
          <p:cNvSpPr txBox="1"/>
          <p:nvPr/>
        </p:nvSpPr>
        <p:spPr>
          <a:xfrm>
            <a:off x="7204464" y="1573556"/>
            <a:ext cx="2030371" cy="496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Benefit Analysis</a:t>
            </a:r>
            <a:endParaRPr sz="21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3" name="Google Shape;743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1614" y="750918"/>
            <a:ext cx="723746" cy="723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8" name="Google Shape;748;p12"/>
          <p:cNvGrpSpPr/>
          <p:nvPr/>
        </p:nvGrpSpPr>
        <p:grpSpPr>
          <a:xfrm>
            <a:off x="278725" y="1667551"/>
            <a:ext cx="3664023" cy="3012176"/>
            <a:chOff x="215688" y="1942108"/>
            <a:chExt cx="3809762" cy="2809339"/>
          </a:xfrm>
        </p:grpSpPr>
        <p:sp>
          <p:nvSpPr>
            <p:cNvPr id="749" name="Google Shape;749;p12"/>
            <p:cNvSpPr txBox="1"/>
            <p:nvPr/>
          </p:nvSpPr>
          <p:spPr>
            <a:xfrm>
              <a:off x="337250" y="1942108"/>
              <a:ext cx="36882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Wind Load Provision 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0" name="Google Shape;750;p12"/>
            <p:cNvGrpSpPr/>
            <p:nvPr/>
          </p:nvGrpSpPr>
          <p:grpSpPr>
            <a:xfrm>
              <a:off x="215688" y="2344875"/>
              <a:ext cx="2825393" cy="2406572"/>
              <a:chOff x="297238" y="1505278"/>
              <a:chExt cx="2825393" cy="2406572"/>
            </a:xfrm>
          </p:grpSpPr>
          <p:sp>
            <p:nvSpPr>
              <p:cNvPr id="751" name="Google Shape;751;p12"/>
              <p:cNvSpPr/>
              <p:nvPr/>
            </p:nvSpPr>
            <p:spPr>
              <a:xfrm>
                <a:off x="812527" y="3346299"/>
                <a:ext cx="2310104" cy="5655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Basic Wind Speed</a:t>
                </a: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: 65.7 m/s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12"/>
              <p:cNvSpPr/>
              <p:nvPr/>
            </p:nvSpPr>
            <p:spPr>
              <a:xfrm>
                <a:off x="297238" y="3398100"/>
                <a:ext cx="461949" cy="46194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51425" tIns="25700" rIns="51425" bIns="2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13"/>
                  <a:buFont typeface="Arial"/>
                  <a:buNone/>
                </a:pPr>
                <a:endParaRPr sz="1013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53" name="Google Shape;753;p12"/>
              <p:cNvSpPr/>
              <p:nvPr/>
            </p:nvSpPr>
            <p:spPr>
              <a:xfrm>
                <a:off x="297238" y="2767160"/>
                <a:ext cx="461949" cy="461945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51425" tIns="25700" rIns="51425" bIns="2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13"/>
                  <a:buFont typeface="Arial"/>
                  <a:buNone/>
                </a:pPr>
                <a:endParaRPr sz="1013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54" name="Google Shape;754;p12"/>
              <p:cNvSpPr/>
              <p:nvPr/>
            </p:nvSpPr>
            <p:spPr>
              <a:xfrm>
                <a:off x="812527" y="2192154"/>
                <a:ext cx="2310104" cy="264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Occupancy Category: </a:t>
                </a: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III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12"/>
              <p:cNvSpPr/>
              <p:nvPr/>
            </p:nvSpPr>
            <p:spPr>
              <a:xfrm>
                <a:off x="297238" y="2136219"/>
                <a:ext cx="461949" cy="46194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51425" tIns="25700" rIns="51425" bIns="2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13"/>
                  <a:buFont typeface="Arial"/>
                  <a:buNone/>
                </a:pPr>
                <a:endParaRPr sz="1013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56" name="Google Shape;756;p12"/>
              <p:cNvSpPr/>
              <p:nvPr/>
            </p:nvSpPr>
            <p:spPr>
              <a:xfrm>
                <a:off x="425475" y="2268545"/>
                <a:ext cx="205475" cy="197293"/>
              </a:xfrm>
              <a:custGeom>
                <a:avLst/>
                <a:gdLst/>
                <a:ahLst/>
                <a:cxnLst/>
                <a:rect l="l" t="t" r="r" b="b"/>
                <a:pathLst>
                  <a:path w="6486426" h="6228137" extrusionOk="0">
                    <a:moveTo>
                      <a:pt x="6469456" y="2353260"/>
                    </a:moveTo>
                    <a:cubicBezTo>
                      <a:pt x="6426747" y="2221661"/>
                      <a:pt x="6310252" y="2128490"/>
                      <a:pt x="6172972" y="2116044"/>
                    </a:cubicBezTo>
                    <a:lnTo>
                      <a:pt x="4300534" y="1945720"/>
                    </a:lnTo>
                    <a:lnTo>
                      <a:pt x="3560536" y="209844"/>
                    </a:lnTo>
                    <a:cubicBezTo>
                      <a:pt x="3505901" y="82311"/>
                      <a:pt x="3381586" y="0"/>
                      <a:pt x="3243217" y="0"/>
                    </a:cubicBezTo>
                    <a:cubicBezTo>
                      <a:pt x="3104848" y="0"/>
                      <a:pt x="2980484" y="82311"/>
                      <a:pt x="2926195" y="209844"/>
                    </a:cubicBezTo>
                    <a:lnTo>
                      <a:pt x="2186197" y="1945720"/>
                    </a:lnTo>
                    <a:lnTo>
                      <a:pt x="313463" y="2116044"/>
                    </a:lnTo>
                    <a:cubicBezTo>
                      <a:pt x="176182" y="2128738"/>
                      <a:pt x="59934" y="2221909"/>
                      <a:pt x="16978" y="2353260"/>
                    </a:cubicBezTo>
                    <a:cubicBezTo>
                      <a:pt x="-25730" y="2484858"/>
                      <a:pt x="13712" y="2629201"/>
                      <a:pt x="117539" y="2720437"/>
                    </a:cubicBezTo>
                    <a:lnTo>
                      <a:pt x="1532952" y="3963982"/>
                    </a:lnTo>
                    <a:lnTo>
                      <a:pt x="1115618" y="5805672"/>
                    </a:lnTo>
                    <a:cubicBezTo>
                      <a:pt x="1085084" y="5941089"/>
                      <a:pt x="1137541" y="6081117"/>
                      <a:pt x="1249681" y="6162338"/>
                    </a:cubicBezTo>
                    <a:cubicBezTo>
                      <a:pt x="1309958" y="6206221"/>
                      <a:pt x="1380776" y="6228137"/>
                      <a:pt x="1451841" y="6228137"/>
                    </a:cubicBezTo>
                    <a:cubicBezTo>
                      <a:pt x="1512910" y="6228137"/>
                      <a:pt x="1574028" y="6211873"/>
                      <a:pt x="1628613" y="6179147"/>
                    </a:cubicBezTo>
                    <a:lnTo>
                      <a:pt x="3243217" y="5211841"/>
                    </a:lnTo>
                    <a:lnTo>
                      <a:pt x="4857524" y="6179147"/>
                    </a:lnTo>
                    <a:cubicBezTo>
                      <a:pt x="4975950" y="6250054"/>
                      <a:pt x="5124860" y="6243558"/>
                      <a:pt x="5236753" y="6162338"/>
                    </a:cubicBezTo>
                    <a:cubicBezTo>
                      <a:pt x="5348893" y="6081117"/>
                      <a:pt x="5401351" y="5941089"/>
                      <a:pt x="5370816" y="5805672"/>
                    </a:cubicBezTo>
                    <a:lnTo>
                      <a:pt x="4953482" y="3963982"/>
                    </a:lnTo>
                    <a:lnTo>
                      <a:pt x="6368896" y="2720437"/>
                    </a:lnTo>
                    <a:cubicBezTo>
                      <a:pt x="6472672" y="2629201"/>
                      <a:pt x="6512164" y="2485156"/>
                      <a:pt x="6469456" y="23532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12"/>
              <p:cNvSpPr/>
              <p:nvPr/>
            </p:nvSpPr>
            <p:spPr>
              <a:xfrm>
                <a:off x="812527" y="1619747"/>
                <a:ext cx="2310104" cy="264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Exposure</a:t>
                </a:r>
                <a:r>
                  <a:rPr lang="en-US" sz="105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Category</a:t>
                </a:r>
                <a:r>
                  <a:rPr lang="en-US" sz="105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: </a:t>
                </a: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12"/>
              <p:cNvSpPr/>
              <p:nvPr/>
            </p:nvSpPr>
            <p:spPr>
              <a:xfrm>
                <a:off x="297238" y="1505278"/>
                <a:ext cx="461949" cy="46194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1425" tIns="25700" rIns="51425" bIns="2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13"/>
                  <a:buFont typeface="Arial"/>
                  <a:buNone/>
                </a:pPr>
                <a:endParaRPr sz="1013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59" name="Google Shape;759;p12"/>
              <p:cNvSpPr/>
              <p:nvPr/>
            </p:nvSpPr>
            <p:spPr>
              <a:xfrm>
                <a:off x="422143" y="2899485"/>
                <a:ext cx="205475" cy="197293"/>
              </a:xfrm>
              <a:custGeom>
                <a:avLst/>
                <a:gdLst/>
                <a:ahLst/>
                <a:cxnLst/>
                <a:rect l="l" t="t" r="r" b="b"/>
                <a:pathLst>
                  <a:path w="6486426" h="6228137" extrusionOk="0">
                    <a:moveTo>
                      <a:pt x="6469456" y="2353260"/>
                    </a:moveTo>
                    <a:cubicBezTo>
                      <a:pt x="6426747" y="2221661"/>
                      <a:pt x="6310252" y="2128490"/>
                      <a:pt x="6172972" y="2116044"/>
                    </a:cubicBezTo>
                    <a:lnTo>
                      <a:pt x="4300534" y="1945720"/>
                    </a:lnTo>
                    <a:lnTo>
                      <a:pt x="3560536" y="209844"/>
                    </a:lnTo>
                    <a:cubicBezTo>
                      <a:pt x="3505901" y="82311"/>
                      <a:pt x="3381586" y="0"/>
                      <a:pt x="3243217" y="0"/>
                    </a:cubicBezTo>
                    <a:cubicBezTo>
                      <a:pt x="3104848" y="0"/>
                      <a:pt x="2980484" y="82311"/>
                      <a:pt x="2926195" y="209844"/>
                    </a:cubicBezTo>
                    <a:lnTo>
                      <a:pt x="2186197" y="1945720"/>
                    </a:lnTo>
                    <a:lnTo>
                      <a:pt x="313463" y="2116044"/>
                    </a:lnTo>
                    <a:cubicBezTo>
                      <a:pt x="176182" y="2128738"/>
                      <a:pt x="59934" y="2221909"/>
                      <a:pt x="16978" y="2353260"/>
                    </a:cubicBezTo>
                    <a:cubicBezTo>
                      <a:pt x="-25730" y="2484858"/>
                      <a:pt x="13712" y="2629201"/>
                      <a:pt x="117539" y="2720437"/>
                    </a:cubicBezTo>
                    <a:lnTo>
                      <a:pt x="1532952" y="3963982"/>
                    </a:lnTo>
                    <a:lnTo>
                      <a:pt x="1115618" y="5805672"/>
                    </a:lnTo>
                    <a:cubicBezTo>
                      <a:pt x="1085084" y="5941089"/>
                      <a:pt x="1137541" y="6081117"/>
                      <a:pt x="1249681" y="6162338"/>
                    </a:cubicBezTo>
                    <a:cubicBezTo>
                      <a:pt x="1309958" y="6206221"/>
                      <a:pt x="1380776" y="6228137"/>
                      <a:pt x="1451841" y="6228137"/>
                    </a:cubicBezTo>
                    <a:cubicBezTo>
                      <a:pt x="1512910" y="6228137"/>
                      <a:pt x="1574028" y="6211873"/>
                      <a:pt x="1628613" y="6179147"/>
                    </a:cubicBezTo>
                    <a:lnTo>
                      <a:pt x="3243217" y="5211841"/>
                    </a:lnTo>
                    <a:lnTo>
                      <a:pt x="4857524" y="6179147"/>
                    </a:lnTo>
                    <a:cubicBezTo>
                      <a:pt x="4975950" y="6250054"/>
                      <a:pt x="5124860" y="6243558"/>
                      <a:pt x="5236753" y="6162338"/>
                    </a:cubicBezTo>
                    <a:cubicBezTo>
                      <a:pt x="5348893" y="6081117"/>
                      <a:pt x="5401351" y="5941089"/>
                      <a:pt x="5370816" y="5805672"/>
                    </a:cubicBezTo>
                    <a:lnTo>
                      <a:pt x="4953482" y="3963982"/>
                    </a:lnTo>
                    <a:lnTo>
                      <a:pt x="6368896" y="2720437"/>
                    </a:lnTo>
                    <a:cubicBezTo>
                      <a:pt x="6472672" y="2629201"/>
                      <a:pt x="6512164" y="2485156"/>
                      <a:pt x="6469456" y="23532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12"/>
              <p:cNvSpPr/>
              <p:nvPr/>
            </p:nvSpPr>
            <p:spPr>
              <a:xfrm>
                <a:off x="418811" y="3530425"/>
                <a:ext cx="205475" cy="197293"/>
              </a:xfrm>
              <a:custGeom>
                <a:avLst/>
                <a:gdLst/>
                <a:ahLst/>
                <a:cxnLst/>
                <a:rect l="l" t="t" r="r" b="b"/>
                <a:pathLst>
                  <a:path w="6486426" h="6228137" extrusionOk="0">
                    <a:moveTo>
                      <a:pt x="6469456" y="2353260"/>
                    </a:moveTo>
                    <a:cubicBezTo>
                      <a:pt x="6426747" y="2221661"/>
                      <a:pt x="6310252" y="2128490"/>
                      <a:pt x="6172972" y="2116044"/>
                    </a:cubicBezTo>
                    <a:lnTo>
                      <a:pt x="4300534" y="1945720"/>
                    </a:lnTo>
                    <a:lnTo>
                      <a:pt x="3560536" y="209844"/>
                    </a:lnTo>
                    <a:cubicBezTo>
                      <a:pt x="3505901" y="82311"/>
                      <a:pt x="3381586" y="0"/>
                      <a:pt x="3243217" y="0"/>
                    </a:cubicBezTo>
                    <a:cubicBezTo>
                      <a:pt x="3104848" y="0"/>
                      <a:pt x="2980484" y="82311"/>
                      <a:pt x="2926195" y="209844"/>
                    </a:cubicBezTo>
                    <a:lnTo>
                      <a:pt x="2186197" y="1945720"/>
                    </a:lnTo>
                    <a:lnTo>
                      <a:pt x="313463" y="2116044"/>
                    </a:lnTo>
                    <a:cubicBezTo>
                      <a:pt x="176182" y="2128738"/>
                      <a:pt x="59934" y="2221909"/>
                      <a:pt x="16978" y="2353260"/>
                    </a:cubicBezTo>
                    <a:cubicBezTo>
                      <a:pt x="-25730" y="2484858"/>
                      <a:pt x="13712" y="2629201"/>
                      <a:pt x="117539" y="2720437"/>
                    </a:cubicBezTo>
                    <a:lnTo>
                      <a:pt x="1532952" y="3963982"/>
                    </a:lnTo>
                    <a:lnTo>
                      <a:pt x="1115618" y="5805672"/>
                    </a:lnTo>
                    <a:cubicBezTo>
                      <a:pt x="1085084" y="5941089"/>
                      <a:pt x="1137541" y="6081117"/>
                      <a:pt x="1249681" y="6162338"/>
                    </a:cubicBezTo>
                    <a:cubicBezTo>
                      <a:pt x="1309958" y="6206221"/>
                      <a:pt x="1380776" y="6228137"/>
                      <a:pt x="1451841" y="6228137"/>
                    </a:cubicBezTo>
                    <a:cubicBezTo>
                      <a:pt x="1512910" y="6228137"/>
                      <a:pt x="1574028" y="6211873"/>
                      <a:pt x="1628613" y="6179147"/>
                    </a:cubicBezTo>
                    <a:lnTo>
                      <a:pt x="3243217" y="5211841"/>
                    </a:lnTo>
                    <a:lnTo>
                      <a:pt x="4857524" y="6179147"/>
                    </a:lnTo>
                    <a:cubicBezTo>
                      <a:pt x="4975950" y="6250054"/>
                      <a:pt x="5124860" y="6243558"/>
                      <a:pt x="5236753" y="6162338"/>
                    </a:cubicBezTo>
                    <a:cubicBezTo>
                      <a:pt x="5348893" y="6081117"/>
                      <a:pt x="5401351" y="5941089"/>
                      <a:pt x="5370816" y="5805672"/>
                    </a:cubicBezTo>
                    <a:lnTo>
                      <a:pt x="4953482" y="3963982"/>
                    </a:lnTo>
                    <a:lnTo>
                      <a:pt x="6368896" y="2720437"/>
                    </a:lnTo>
                    <a:cubicBezTo>
                      <a:pt x="6472672" y="2629201"/>
                      <a:pt x="6512164" y="2485156"/>
                      <a:pt x="6469456" y="23532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12"/>
              <p:cNvSpPr/>
              <p:nvPr/>
            </p:nvSpPr>
            <p:spPr>
              <a:xfrm>
                <a:off x="418810" y="1637603"/>
                <a:ext cx="205475" cy="197293"/>
              </a:xfrm>
              <a:custGeom>
                <a:avLst/>
                <a:gdLst/>
                <a:ahLst/>
                <a:cxnLst/>
                <a:rect l="l" t="t" r="r" b="b"/>
                <a:pathLst>
                  <a:path w="6486426" h="6228137" extrusionOk="0">
                    <a:moveTo>
                      <a:pt x="6469456" y="2353260"/>
                    </a:moveTo>
                    <a:cubicBezTo>
                      <a:pt x="6426747" y="2221661"/>
                      <a:pt x="6310252" y="2128490"/>
                      <a:pt x="6172972" y="2116044"/>
                    </a:cubicBezTo>
                    <a:lnTo>
                      <a:pt x="4300534" y="1945720"/>
                    </a:lnTo>
                    <a:lnTo>
                      <a:pt x="3560536" y="209844"/>
                    </a:lnTo>
                    <a:cubicBezTo>
                      <a:pt x="3505901" y="82311"/>
                      <a:pt x="3381586" y="0"/>
                      <a:pt x="3243217" y="0"/>
                    </a:cubicBezTo>
                    <a:cubicBezTo>
                      <a:pt x="3104848" y="0"/>
                      <a:pt x="2980484" y="82311"/>
                      <a:pt x="2926195" y="209844"/>
                    </a:cubicBezTo>
                    <a:lnTo>
                      <a:pt x="2186197" y="1945720"/>
                    </a:lnTo>
                    <a:lnTo>
                      <a:pt x="313463" y="2116044"/>
                    </a:lnTo>
                    <a:cubicBezTo>
                      <a:pt x="176182" y="2128738"/>
                      <a:pt x="59934" y="2221909"/>
                      <a:pt x="16978" y="2353260"/>
                    </a:cubicBezTo>
                    <a:cubicBezTo>
                      <a:pt x="-25730" y="2484858"/>
                      <a:pt x="13712" y="2629201"/>
                      <a:pt x="117539" y="2720437"/>
                    </a:cubicBezTo>
                    <a:lnTo>
                      <a:pt x="1532952" y="3963982"/>
                    </a:lnTo>
                    <a:lnTo>
                      <a:pt x="1115618" y="5805672"/>
                    </a:lnTo>
                    <a:cubicBezTo>
                      <a:pt x="1085084" y="5941089"/>
                      <a:pt x="1137541" y="6081117"/>
                      <a:pt x="1249681" y="6162338"/>
                    </a:cubicBezTo>
                    <a:cubicBezTo>
                      <a:pt x="1309958" y="6206221"/>
                      <a:pt x="1380776" y="6228137"/>
                      <a:pt x="1451841" y="6228137"/>
                    </a:cubicBezTo>
                    <a:cubicBezTo>
                      <a:pt x="1512910" y="6228137"/>
                      <a:pt x="1574028" y="6211873"/>
                      <a:pt x="1628613" y="6179147"/>
                    </a:cubicBezTo>
                    <a:lnTo>
                      <a:pt x="3243217" y="5211841"/>
                    </a:lnTo>
                    <a:lnTo>
                      <a:pt x="4857524" y="6179147"/>
                    </a:lnTo>
                    <a:cubicBezTo>
                      <a:pt x="4975950" y="6250054"/>
                      <a:pt x="5124860" y="6243558"/>
                      <a:pt x="5236753" y="6162338"/>
                    </a:cubicBezTo>
                    <a:cubicBezTo>
                      <a:pt x="5348893" y="6081117"/>
                      <a:pt x="5401351" y="5941089"/>
                      <a:pt x="5370816" y="5805672"/>
                    </a:cubicBezTo>
                    <a:lnTo>
                      <a:pt x="4953482" y="3963982"/>
                    </a:lnTo>
                    <a:lnTo>
                      <a:pt x="6368896" y="2720437"/>
                    </a:lnTo>
                    <a:cubicBezTo>
                      <a:pt x="6472672" y="2629201"/>
                      <a:pt x="6512164" y="2485156"/>
                      <a:pt x="6469456" y="23532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12"/>
              <p:cNvSpPr txBox="1"/>
              <p:nvPr/>
            </p:nvSpPr>
            <p:spPr>
              <a:xfrm>
                <a:off x="759187" y="2851937"/>
                <a:ext cx="2212613" cy="4879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Importance Factor: </a:t>
                </a: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1.15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63" name="Google Shape;763;p12"/>
          <p:cNvGrpSpPr/>
          <p:nvPr/>
        </p:nvGrpSpPr>
        <p:grpSpPr>
          <a:xfrm>
            <a:off x="2997795" y="1676625"/>
            <a:ext cx="3768284" cy="2916323"/>
            <a:chOff x="3763790" y="1826146"/>
            <a:chExt cx="3768284" cy="2916323"/>
          </a:xfrm>
        </p:grpSpPr>
        <p:grpSp>
          <p:nvGrpSpPr>
            <p:cNvPr id="764" name="Google Shape;764;p12"/>
            <p:cNvGrpSpPr/>
            <p:nvPr/>
          </p:nvGrpSpPr>
          <p:grpSpPr>
            <a:xfrm>
              <a:off x="3763790" y="2331054"/>
              <a:ext cx="2825393" cy="2411415"/>
              <a:chOff x="5143558" y="1601030"/>
              <a:chExt cx="2825393" cy="2411415"/>
            </a:xfrm>
          </p:grpSpPr>
          <p:sp>
            <p:nvSpPr>
              <p:cNvPr id="765" name="Google Shape;765;p12"/>
              <p:cNvSpPr/>
              <p:nvPr/>
            </p:nvSpPr>
            <p:spPr>
              <a:xfrm>
                <a:off x="5658847" y="3639865"/>
                <a:ext cx="2310104" cy="2832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Seismic Zone: </a:t>
                </a: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 (z=0.2)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12"/>
              <p:cNvSpPr/>
              <p:nvPr/>
            </p:nvSpPr>
            <p:spPr>
              <a:xfrm>
                <a:off x="5143558" y="3550500"/>
                <a:ext cx="461949" cy="46194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51425" tIns="25700" rIns="51425" bIns="2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13"/>
                  <a:buFont typeface="Arial"/>
                  <a:buNone/>
                </a:pPr>
                <a:endParaRPr sz="1013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67" name="Google Shape;767;p12"/>
              <p:cNvSpPr/>
              <p:nvPr/>
            </p:nvSpPr>
            <p:spPr>
              <a:xfrm>
                <a:off x="5143558" y="2919560"/>
                <a:ext cx="461949" cy="461945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51425" tIns="25700" rIns="51425" bIns="2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13"/>
                  <a:buFont typeface="Arial"/>
                  <a:buNone/>
                </a:pPr>
                <a:endParaRPr sz="1013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68" name="Google Shape;768;p12"/>
              <p:cNvSpPr/>
              <p:nvPr/>
            </p:nvSpPr>
            <p:spPr>
              <a:xfrm>
                <a:off x="5658847" y="2335019"/>
                <a:ext cx="2310104" cy="2832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Occupancy Category</a:t>
                </a: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: III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12"/>
              <p:cNvSpPr/>
              <p:nvPr/>
            </p:nvSpPr>
            <p:spPr>
              <a:xfrm>
                <a:off x="5143558" y="2288619"/>
                <a:ext cx="461949" cy="46194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51425" tIns="25700" rIns="51425" bIns="2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13"/>
                  <a:buFont typeface="Arial"/>
                  <a:buNone/>
                </a:pPr>
                <a:endParaRPr sz="1013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70" name="Google Shape;770;p12"/>
              <p:cNvSpPr/>
              <p:nvPr/>
            </p:nvSpPr>
            <p:spPr>
              <a:xfrm>
                <a:off x="5271795" y="2420945"/>
                <a:ext cx="205475" cy="197293"/>
              </a:xfrm>
              <a:custGeom>
                <a:avLst/>
                <a:gdLst/>
                <a:ahLst/>
                <a:cxnLst/>
                <a:rect l="l" t="t" r="r" b="b"/>
                <a:pathLst>
                  <a:path w="6486426" h="6228137" extrusionOk="0">
                    <a:moveTo>
                      <a:pt x="6469456" y="2353260"/>
                    </a:moveTo>
                    <a:cubicBezTo>
                      <a:pt x="6426747" y="2221661"/>
                      <a:pt x="6310252" y="2128490"/>
                      <a:pt x="6172972" y="2116044"/>
                    </a:cubicBezTo>
                    <a:lnTo>
                      <a:pt x="4300534" y="1945720"/>
                    </a:lnTo>
                    <a:lnTo>
                      <a:pt x="3560536" y="209844"/>
                    </a:lnTo>
                    <a:cubicBezTo>
                      <a:pt x="3505901" y="82311"/>
                      <a:pt x="3381586" y="0"/>
                      <a:pt x="3243217" y="0"/>
                    </a:cubicBezTo>
                    <a:cubicBezTo>
                      <a:pt x="3104848" y="0"/>
                      <a:pt x="2980484" y="82311"/>
                      <a:pt x="2926195" y="209844"/>
                    </a:cubicBezTo>
                    <a:lnTo>
                      <a:pt x="2186197" y="1945720"/>
                    </a:lnTo>
                    <a:lnTo>
                      <a:pt x="313463" y="2116044"/>
                    </a:lnTo>
                    <a:cubicBezTo>
                      <a:pt x="176182" y="2128738"/>
                      <a:pt x="59934" y="2221909"/>
                      <a:pt x="16978" y="2353260"/>
                    </a:cubicBezTo>
                    <a:cubicBezTo>
                      <a:pt x="-25730" y="2484858"/>
                      <a:pt x="13712" y="2629201"/>
                      <a:pt x="117539" y="2720437"/>
                    </a:cubicBezTo>
                    <a:lnTo>
                      <a:pt x="1532952" y="3963982"/>
                    </a:lnTo>
                    <a:lnTo>
                      <a:pt x="1115618" y="5805672"/>
                    </a:lnTo>
                    <a:cubicBezTo>
                      <a:pt x="1085084" y="5941089"/>
                      <a:pt x="1137541" y="6081117"/>
                      <a:pt x="1249681" y="6162338"/>
                    </a:cubicBezTo>
                    <a:cubicBezTo>
                      <a:pt x="1309958" y="6206221"/>
                      <a:pt x="1380776" y="6228137"/>
                      <a:pt x="1451841" y="6228137"/>
                    </a:cubicBezTo>
                    <a:cubicBezTo>
                      <a:pt x="1512910" y="6228137"/>
                      <a:pt x="1574028" y="6211873"/>
                      <a:pt x="1628613" y="6179147"/>
                    </a:cubicBezTo>
                    <a:lnTo>
                      <a:pt x="3243217" y="5211841"/>
                    </a:lnTo>
                    <a:lnTo>
                      <a:pt x="4857524" y="6179147"/>
                    </a:lnTo>
                    <a:cubicBezTo>
                      <a:pt x="4975950" y="6250054"/>
                      <a:pt x="5124860" y="6243558"/>
                      <a:pt x="5236753" y="6162338"/>
                    </a:cubicBezTo>
                    <a:cubicBezTo>
                      <a:pt x="5348893" y="6081117"/>
                      <a:pt x="5401351" y="5941089"/>
                      <a:pt x="5370816" y="5805672"/>
                    </a:cubicBezTo>
                    <a:lnTo>
                      <a:pt x="4953482" y="3963982"/>
                    </a:lnTo>
                    <a:lnTo>
                      <a:pt x="6368896" y="2720437"/>
                    </a:lnTo>
                    <a:cubicBezTo>
                      <a:pt x="6472672" y="2629201"/>
                      <a:pt x="6512164" y="2485156"/>
                      <a:pt x="6469456" y="23532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12"/>
              <p:cNvSpPr/>
              <p:nvPr/>
            </p:nvSpPr>
            <p:spPr>
              <a:xfrm>
                <a:off x="5658847" y="1601030"/>
                <a:ext cx="2310104" cy="606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Site Class</a:t>
                </a: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: SC Seismic Design Category: SDC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12"/>
              <p:cNvSpPr/>
              <p:nvPr/>
            </p:nvSpPr>
            <p:spPr>
              <a:xfrm>
                <a:off x="5143558" y="1657678"/>
                <a:ext cx="461949" cy="46194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51425" tIns="25700" rIns="51425" bIns="2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13"/>
                  <a:buFont typeface="Arial"/>
                  <a:buNone/>
                </a:pPr>
                <a:endParaRPr sz="1013" b="0" i="0" u="none" strike="noStrike" cap="non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73" name="Google Shape;773;p12"/>
              <p:cNvSpPr/>
              <p:nvPr/>
            </p:nvSpPr>
            <p:spPr>
              <a:xfrm>
                <a:off x="5268463" y="3051885"/>
                <a:ext cx="205475" cy="197293"/>
              </a:xfrm>
              <a:custGeom>
                <a:avLst/>
                <a:gdLst/>
                <a:ahLst/>
                <a:cxnLst/>
                <a:rect l="l" t="t" r="r" b="b"/>
                <a:pathLst>
                  <a:path w="6486426" h="6228137" extrusionOk="0">
                    <a:moveTo>
                      <a:pt x="6469456" y="2353260"/>
                    </a:moveTo>
                    <a:cubicBezTo>
                      <a:pt x="6426747" y="2221661"/>
                      <a:pt x="6310252" y="2128490"/>
                      <a:pt x="6172972" y="2116044"/>
                    </a:cubicBezTo>
                    <a:lnTo>
                      <a:pt x="4300534" y="1945720"/>
                    </a:lnTo>
                    <a:lnTo>
                      <a:pt x="3560536" y="209844"/>
                    </a:lnTo>
                    <a:cubicBezTo>
                      <a:pt x="3505901" y="82311"/>
                      <a:pt x="3381586" y="0"/>
                      <a:pt x="3243217" y="0"/>
                    </a:cubicBezTo>
                    <a:cubicBezTo>
                      <a:pt x="3104848" y="0"/>
                      <a:pt x="2980484" y="82311"/>
                      <a:pt x="2926195" y="209844"/>
                    </a:cubicBezTo>
                    <a:lnTo>
                      <a:pt x="2186197" y="1945720"/>
                    </a:lnTo>
                    <a:lnTo>
                      <a:pt x="313463" y="2116044"/>
                    </a:lnTo>
                    <a:cubicBezTo>
                      <a:pt x="176182" y="2128738"/>
                      <a:pt x="59934" y="2221909"/>
                      <a:pt x="16978" y="2353260"/>
                    </a:cubicBezTo>
                    <a:cubicBezTo>
                      <a:pt x="-25730" y="2484858"/>
                      <a:pt x="13712" y="2629201"/>
                      <a:pt x="117539" y="2720437"/>
                    </a:cubicBezTo>
                    <a:lnTo>
                      <a:pt x="1532952" y="3963982"/>
                    </a:lnTo>
                    <a:lnTo>
                      <a:pt x="1115618" y="5805672"/>
                    </a:lnTo>
                    <a:cubicBezTo>
                      <a:pt x="1085084" y="5941089"/>
                      <a:pt x="1137541" y="6081117"/>
                      <a:pt x="1249681" y="6162338"/>
                    </a:cubicBezTo>
                    <a:cubicBezTo>
                      <a:pt x="1309958" y="6206221"/>
                      <a:pt x="1380776" y="6228137"/>
                      <a:pt x="1451841" y="6228137"/>
                    </a:cubicBezTo>
                    <a:cubicBezTo>
                      <a:pt x="1512910" y="6228137"/>
                      <a:pt x="1574028" y="6211873"/>
                      <a:pt x="1628613" y="6179147"/>
                    </a:cubicBezTo>
                    <a:lnTo>
                      <a:pt x="3243217" y="5211841"/>
                    </a:lnTo>
                    <a:lnTo>
                      <a:pt x="4857524" y="6179147"/>
                    </a:lnTo>
                    <a:cubicBezTo>
                      <a:pt x="4975950" y="6250054"/>
                      <a:pt x="5124860" y="6243558"/>
                      <a:pt x="5236753" y="6162338"/>
                    </a:cubicBezTo>
                    <a:cubicBezTo>
                      <a:pt x="5348893" y="6081117"/>
                      <a:pt x="5401351" y="5941089"/>
                      <a:pt x="5370816" y="5805672"/>
                    </a:cubicBezTo>
                    <a:lnTo>
                      <a:pt x="4953482" y="3963982"/>
                    </a:lnTo>
                    <a:lnTo>
                      <a:pt x="6368896" y="2720437"/>
                    </a:lnTo>
                    <a:cubicBezTo>
                      <a:pt x="6472672" y="2629201"/>
                      <a:pt x="6512164" y="2485156"/>
                      <a:pt x="6469456" y="23532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12"/>
              <p:cNvSpPr/>
              <p:nvPr/>
            </p:nvSpPr>
            <p:spPr>
              <a:xfrm>
                <a:off x="5265131" y="3682825"/>
                <a:ext cx="205475" cy="197293"/>
              </a:xfrm>
              <a:custGeom>
                <a:avLst/>
                <a:gdLst/>
                <a:ahLst/>
                <a:cxnLst/>
                <a:rect l="l" t="t" r="r" b="b"/>
                <a:pathLst>
                  <a:path w="6486426" h="6228137" extrusionOk="0">
                    <a:moveTo>
                      <a:pt x="6469456" y="2353260"/>
                    </a:moveTo>
                    <a:cubicBezTo>
                      <a:pt x="6426747" y="2221661"/>
                      <a:pt x="6310252" y="2128490"/>
                      <a:pt x="6172972" y="2116044"/>
                    </a:cubicBezTo>
                    <a:lnTo>
                      <a:pt x="4300534" y="1945720"/>
                    </a:lnTo>
                    <a:lnTo>
                      <a:pt x="3560536" y="209844"/>
                    </a:lnTo>
                    <a:cubicBezTo>
                      <a:pt x="3505901" y="82311"/>
                      <a:pt x="3381586" y="0"/>
                      <a:pt x="3243217" y="0"/>
                    </a:cubicBezTo>
                    <a:cubicBezTo>
                      <a:pt x="3104848" y="0"/>
                      <a:pt x="2980484" y="82311"/>
                      <a:pt x="2926195" y="209844"/>
                    </a:cubicBezTo>
                    <a:lnTo>
                      <a:pt x="2186197" y="1945720"/>
                    </a:lnTo>
                    <a:lnTo>
                      <a:pt x="313463" y="2116044"/>
                    </a:lnTo>
                    <a:cubicBezTo>
                      <a:pt x="176182" y="2128738"/>
                      <a:pt x="59934" y="2221909"/>
                      <a:pt x="16978" y="2353260"/>
                    </a:cubicBezTo>
                    <a:cubicBezTo>
                      <a:pt x="-25730" y="2484858"/>
                      <a:pt x="13712" y="2629201"/>
                      <a:pt x="117539" y="2720437"/>
                    </a:cubicBezTo>
                    <a:lnTo>
                      <a:pt x="1532952" y="3963982"/>
                    </a:lnTo>
                    <a:lnTo>
                      <a:pt x="1115618" y="5805672"/>
                    </a:lnTo>
                    <a:cubicBezTo>
                      <a:pt x="1085084" y="5941089"/>
                      <a:pt x="1137541" y="6081117"/>
                      <a:pt x="1249681" y="6162338"/>
                    </a:cubicBezTo>
                    <a:cubicBezTo>
                      <a:pt x="1309958" y="6206221"/>
                      <a:pt x="1380776" y="6228137"/>
                      <a:pt x="1451841" y="6228137"/>
                    </a:cubicBezTo>
                    <a:cubicBezTo>
                      <a:pt x="1512910" y="6228137"/>
                      <a:pt x="1574028" y="6211873"/>
                      <a:pt x="1628613" y="6179147"/>
                    </a:cubicBezTo>
                    <a:lnTo>
                      <a:pt x="3243217" y="5211841"/>
                    </a:lnTo>
                    <a:lnTo>
                      <a:pt x="4857524" y="6179147"/>
                    </a:lnTo>
                    <a:cubicBezTo>
                      <a:pt x="4975950" y="6250054"/>
                      <a:pt x="5124860" y="6243558"/>
                      <a:pt x="5236753" y="6162338"/>
                    </a:cubicBezTo>
                    <a:cubicBezTo>
                      <a:pt x="5348893" y="6081117"/>
                      <a:pt x="5401351" y="5941089"/>
                      <a:pt x="5370816" y="5805672"/>
                    </a:cubicBezTo>
                    <a:lnTo>
                      <a:pt x="4953482" y="3963982"/>
                    </a:lnTo>
                    <a:lnTo>
                      <a:pt x="6368896" y="2720437"/>
                    </a:lnTo>
                    <a:cubicBezTo>
                      <a:pt x="6472672" y="2629201"/>
                      <a:pt x="6512164" y="2485156"/>
                      <a:pt x="6469456" y="23532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12"/>
              <p:cNvSpPr/>
              <p:nvPr/>
            </p:nvSpPr>
            <p:spPr>
              <a:xfrm>
                <a:off x="5265130" y="1790003"/>
                <a:ext cx="205475" cy="197293"/>
              </a:xfrm>
              <a:custGeom>
                <a:avLst/>
                <a:gdLst/>
                <a:ahLst/>
                <a:cxnLst/>
                <a:rect l="l" t="t" r="r" b="b"/>
                <a:pathLst>
                  <a:path w="6486426" h="6228137" extrusionOk="0">
                    <a:moveTo>
                      <a:pt x="6469456" y="2353260"/>
                    </a:moveTo>
                    <a:cubicBezTo>
                      <a:pt x="6426747" y="2221661"/>
                      <a:pt x="6310252" y="2128490"/>
                      <a:pt x="6172972" y="2116044"/>
                    </a:cubicBezTo>
                    <a:lnTo>
                      <a:pt x="4300534" y="1945720"/>
                    </a:lnTo>
                    <a:lnTo>
                      <a:pt x="3560536" y="209844"/>
                    </a:lnTo>
                    <a:cubicBezTo>
                      <a:pt x="3505901" y="82311"/>
                      <a:pt x="3381586" y="0"/>
                      <a:pt x="3243217" y="0"/>
                    </a:cubicBezTo>
                    <a:cubicBezTo>
                      <a:pt x="3104848" y="0"/>
                      <a:pt x="2980484" y="82311"/>
                      <a:pt x="2926195" y="209844"/>
                    </a:cubicBezTo>
                    <a:lnTo>
                      <a:pt x="2186197" y="1945720"/>
                    </a:lnTo>
                    <a:lnTo>
                      <a:pt x="313463" y="2116044"/>
                    </a:lnTo>
                    <a:cubicBezTo>
                      <a:pt x="176182" y="2128738"/>
                      <a:pt x="59934" y="2221909"/>
                      <a:pt x="16978" y="2353260"/>
                    </a:cubicBezTo>
                    <a:cubicBezTo>
                      <a:pt x="-25730" y="2484858"/>
                      <a:pt x="13712" y="2629201"/>
                      <a:pt x="117539" y="2720437"/>
                    </a:cubicBezTo>
                    <a:lnTo>
                      <a:pt x="1532952" y="3963982"/>
                    </a:lnTo>
                    <a:lnTo>
                      <a:pt x="1115618" y="5805672"/>
                    </a:lnTo>
                    <a:cubicBezTo>
                      <a:pt x="1085084" y="5941089"/>
                      <a:pt x="1137541" y="6081117"/>
                      <a:pt x="1249681" y="6162338"/>
                    </a:cubicBezTo>
                    <a:cubicBezTo>
                      <a:pt x="1309958" y="6206221"/>
                      <a:pt x="1380776" y="6228137"/>
                      <a:pt x="1451841" y="6228137"/>
                    </a:cubicBezTo>
                    <a:cubicBezTo>
                      <a:pt x="1512910" y="6228137"/>
                      <a:pt x="1574028" y="6211873"/>
                      <a:pt x="1628613" y="6179147"/>
                    </a:cubicBezTo>
                    <a:lnTo>
                      <a:pt x="3243217" y="5211841"/>
                    </a:lnTo>
                    <a:lnTo>
                      <a:pt x="4857524" y="6179147"/>
                    </a:lnTo>
                    <a:cubicBezTo>
                      <a:pt x="4975950" y="6250054"/>
                      <a:pt x="5124860" y="6243558"/>
                      <a:pt x="5236753" y="6162338"/>
                    </a:cubicBezTo>
                    <a:cubicBezTo>
                      <a:pt x="5348893" y="6081117"/>
                      <a:pt x="5401351" y="5941089"/>
                      <a:pt x="5370816" y="5805672"/>
                    </a:cubicBezTo>
                    <a:lnTo>
                      <a:pt x="4953482" y="3963982"/>
                    </a:lnTo>
                    <a:lnTo>
                      <a:pt x="6368896" y="2720437"/>
                    </a:lnTo>
                    <a:cubicBezTo>
                      <a:pt x="6472672" y="2629201"/>
                      <a:pt x="6512164" y="2485156"/>
                      <a:pt x="6469456" y="23532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12"/>
              <p:cNvSpPr txBox="1"/>
              <p:nvPr/>
            </p:nvSpPr>
            <p:spPr>
              <a:xfrm>
                <a:off x="5605507" y="3004337"/>
                <a:ext cx="22126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Importance Factor: </a:t>
                </a:r>
                <a:r>
                  <a:rPr lang="en-US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1.15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7" name="Google Shape;777;p12"/>
            <p:cNvSpPr txBox="1"/>
            <p:nvPr/>
          </p:nvSpPr>
          <p:spPr>
            <a:xfrm>
              <a:off x="3858574" y="1826146"/>
              <a:ext cx="36735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Earthquake Load Provision 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8" name="Google Shape;778;p12"/>
          <p:cNvSpPr txBox="1"/>
          <p:nvPr/>
        </p:nvSpPr>
        <p:spPr>
          <a:xfrm>
            <a:off x="0" y="-3141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	Basis of Design (BOD)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2"/>
          <p:cNvSpPr txBox="1"/>
          <p:nvPr/>
        </p:nvSpPr>
        <p:spPr>
          <a:xfrm>
            <a:off x="215688" y="619999"/>
            <a:ext cx="783103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life : 20 years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Standard:  BNBC 2020, ACI 318-08, AISC 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 design Standard:  ASCE 29, BNBC 2020, Part IV, Chapter 1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0" name="Google Shape;780;p12"/>
          <p:cNvGrpSpPr/>
          <p:nvPr/>
        </p:nvGrpSpPr>
        <p:grpSpPr>
          <a:xfrm>
            <a:off x="6185273" y="1699730"/>
            <a:ext cx="2818379" cy="3141651"/>
            <a:chOff x="6193314" y="1834728"/>
            <a:chExt cx="2818379" cy="3141651"/>
          </a:xfrm>
        </p:grpSpPr>
        <p:grpSp>
          <p:nvGrpSpPr>
            <p:cNvPr id="781" name="Google Shape;781;p12"/>
            <p:cNvGrpSpPr/>
            <p:nvPr/>
          </p:nvGrpSpPr>
          <p:grpSpPr>
            <a:xfrm>
              <a:off x="6193314" y="1834728"/>
              <a:ext cx="2776350" cy="2968781"/>
              <a:chOff x="215688" y="1930775"/>
              <a:chExt cx="2886781" cy="2768867"/>
            </a:xfrm>
          </p:grpSpPr>
          <p:sp>
            <p:nvSpPr>
              <p:cNvPr id="782" name="Google Shape;782;p12"/>
              <p:cNvSpPr txBox="1"/>
              <p:nvPr/>
            </p:nvSpPr>
            <p:spPr>
              <a:xfrm>
                <a:off x="672574" y="1930775"/>
                <a:ext cx="2016900" cy="3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Others</a:t>
                </a: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83" name="Google Shape;783;p12"/>
              <p:cNvGrpSpPr/>
              <p:nvPr/>
            </p:nvGrpSpPr>
            <p:grpSpPr>
              <a:xfrm>
                <a:off x="215688" y="2344875"/>
                <a:ext cx="2886781" cy="2354767"/>
                <a:chOff x="297238" y="1505278"/>
                <a:chExt cx="2886781" cy="2354767"/>
              </a:xfrm>
            </p:grpSpPr>
            <p:sp>
              <p:nvSpPr>
                <p:cNvPr id="784" name="Google Shape;784;p12"/>
                <p:cNvSpPr/>
                <p:nvPr/>
              </p:nvSpPr>
              <p:spPr>
                <a:xfrm>
                  <a:off x="297238" y="3398100"/>
                  <a:ext cx="461949" cy="461945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51425" tIns="25700" rIns="51425" bIns="2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13"/>
                    <a:buFont typeface="Arial"/>
                    <a:buNone/>
                  </a:pPr>
                  <a:endParaRPr sz="1013" b="0" i="0" u="none" strike="noStrike" cap="none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785" name="Google Shape;785;p12"/>
                <p:cNvSpPr/>
                <p:nvPr/>
              </p:nvSpPr>
              <p:spPr>
                <a:xfrm>
                  <a:off x="297238" y="2767160"/>
                  <a:ext cx="461949" cy="461945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51425" tIns="25700" rIns="51425" bIns="2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13"/>
                    <a:buFont typeface="Arial"/>
                    <a:buNone/>
                  </a:pPr>
                  <a:endParaRPr sz="1013" b="0" i="0" u="none" strike="noStrike" cap="none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786" name="Google Shape;786;p12"/>
                <p:cNvSpPr/>
                <p:nvPr/>
              </p:nvSpPr>
              <p:spPr>
                <a:xfrm>
                  <a:off x="873915" y="2103253"/>
                  <a:ext cx="2310104" cy="5278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marR="0" lvl="0" indent="0" algn="l" rtl="0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Gravity load </a:t>
                  </a:r>
                  <a:r>
                    <a:rPr lang="en-US" sz="1100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: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l" rtl="0">
                    <a:lnSpc>
                      <a:spcPct val="150000"/>
                    </a:lnSpc>
                    <a:spcBef>
                      <a:spcPts val="56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US" sz="11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BNBC 2020, Part VI, Chapter 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7" name="Google Shape;787;p12"/>
                <p:cNvSpPr/>
                <p:nvPr/>
              </p:nvSpPr>
              <p:spPr>
                <a:xfrm>
                  <a:off x="297238" y="2136219"/>
                  <a:ext cx="461949" cy="461945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51425" tIns="25700" rIns="51425" bIns="2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13"/>
                    <a:buFont typeface="Arial"/>
                    <a:buNone/>
                  </a:pPr>
                  <a:endParaRPr sz="1013" b="0" i="0" u="none" strike="noStrike" cap="none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788" name="Google Shape;788;p12"/>
                <p:cNvSpPr/>
                <p:nvPr/>
              </p:nvSpPr>
              <p:spPr>
                <a:xfrm>
                  <a:off x="425475" y="2268545"/>
                  <a:ext cx="205475" cy="1972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426" h="6228137" extrusionOk="0">
                      <a:moveTo>
                        <a:pt x="6469456" y="2353260"/>
                      </a:moveTo>
                      <a:cubicBezTo>
                        <a:pt x="6426747" y="2221661"/>
                        <a:pt x="6310252" y="2128490"/>
                        <a:pt x="6172972" y="2116044"/>
                      </a:cubicBezTo>
                      <a:lnTo>
                        <a:pt x="4300534" y="1945720"/>
                      </a:lnTo>
                      <a:lnTo>
                        <a:pt x="3560536" y="209844"/>
                      </a:lnTo>
                      <a:cubicBezTo>
                        <a:pt x="3505901" y="82311"/>
                        <a:pt x="3381586" y="0"/>
                        <a:pt x="3243217" y="0"/>
                      </a:cubicBezTo>
                      <a:cubicBezTo>
                        <a:pt x="3104848" y="0"/>
                        <a:pt x="2980484" y="82311"/>
                        <a:pt x="2926195" y="209844"/>
                      </a:cubicBezTo>
                      <a:lnTo>
                        <a:pt x="2186197" y="1945720"/>
                      </a:lnTo>
                      <a:lnTo>
                        <a:pt x="313463" y="2116044"/>
                      </a:lnTo>
                      <a:cubicBezTo>
                        <a:pt x="176182" y="2128738"/>
                        <a:pt x="59934" y="2221909"/>
                        <a:pt x="16978" y="2353260"/>
                      </a:cubicBezTo>
                      <a:cubicBezTo>
                        <a:pt x="-25730" y="2484858"/>
                        <a:pt x="13712" y="2629201"/>
                        <a:pt x="117539" y="2720437"/>
                      </a:cubicBezTo>
                      <a:lnTo>
                        <a:pt x="1532952" y="3963982"/>
                      </a:lnTo>
                      <a:lnTo>
                        <a:pt x="1115618" y="5805672"/>
                      </a:lnTo>
                      <a:cubicBezTo>
                        <a:pt x="1085084" y="5941089"/>
                        <a:pt x="1137541" y="6081117"/>
                        <a:pt x="1249681" y="6162338"/>
                      </a:cubicBezTo>
                      <a:cubicBezTo>
                        <a:pt x="1309958" y="6206221"/>
                        <a:pt x="1380776" y="6228137"/>
                        <a:pt x="1451841" y="6228137"/>
                      </a:cubicBezTo>
                      <a:cubicBezTo>
                        <a:pt x="1512910" y="6228137"/>
                        <a:pt x="1574028" y="6211873"/>
                        <a:pt x="1628613" y="6179147"/>
                      </a:cubicBezTo>
                      <a:lnTo>
                        <a:pt x="3243217" y="5211841"/>
                      </a:lnTo>
                      <a:lnTo>
                        <a:pt x="4857524" y="6179147"/>
                      </a:lnTo>
                      <a:cubicBezTo>
                        <a:pt x="4975950" y="6250054"/>
                        <a:pt x="5124860" y="6243558"/>
                        <a:pt x="5236753" y="6162338"/>
                      </a:cubicBezTo>
                      <a:cubicBezTo>
                        <a:pt x="5348893" y="6081117"/>
                        <a:pt x="5401351" y="5941089"/>
                        <a:pt x="5370816" y="5805672"/>
                      </a:cubicBezTo>
                      <a:lnTo>
                        <a:pt x="4953482" y="3963982"/>
                      </a:lnTo>
                      <a:lnTo>
                        <a:pt x="6368896" y="2720437"/>
                      </a:lnTo>
                      <a:cubicBezTo>
                        <a:pt x="6472672" y="2629201"/>
                        <a:pt x="6512164" y="2485156"/>
                        <a:pt x="6469456" y="235326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50"/>
                    <a:buFont typeface="Arial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9" name="Google Shape;789;p12"/>
                <p:cNvSpPr/>
                <p:nvPr/>
              </p:nvSpPr>
              <p:spPr>
                <a:xfrm>
                  <a:off x="812527" y="1619747"/>
                  <a:ext cx="2310104" cy="26414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marR="0" lvl="0" indent="0" algn="l" rtl="0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" name="Google Shape;790;p12"/>
                <p:cNvSpPr/>
                <p:nvPr/>
              </p:nvSpPr>
              <p:spPr>
                <a:xfrm>
                  <a:off x="297238" y="1505278"/>
                  <a:ext cx="461949" cy="461945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51425" tIns="25700" rIns="51425" bIns="2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13"/>
                    <a:buFont typeface="Arial"/>
                    <a:buNone/>
                  </a:pPr>
                  <a:endParaRPr sz="1013" b="0" i="0" u="none" strike="noStrike" cap="none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791" name="Google Shape;791;p12"/>
                <p:cNvSpPr/>
                <p:nvPr/>
              </p:nvSpPr>
              <p:spPr>
                <a:xfrm>
                  <a:off x="422143" y="2899485"/>
                  <a:ext cx="205475" cy="1972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426" h="6228137" extrusionOk="0">
                      <a:moveTo>
                        <a:pt x="6469456" y="2353260"/>
                      </a:moveTo>
                      <a:cubicBezTo>
                        <a:pt x="6426747" y="2221661"/>
                        <a:pt x="6310252" y="2128490"/>
                        <a:pt x="6172972" y="2116044"/>
                      </a:cubicBezTo>
                      <a:lnTo>
                        <a:pt x="4300534" y="1945720"/>
                      </a:lnTo>
                      <a:lnTo>
                        <a:pt x="3560536" y="209844"/>
                      </a:lnTo>
                      <a:cubicBezTo>
                        <a:pt x="3505901" y="82311"/>
                        <a:pt x="3381586" y="0"/>
                        <a:pt x="3243217" y="0"/>
                      </a:cubicBezTo>
                      <a:cubicBezTo>
                        <a:pt x="3104848" y="0"/>
                        <a:pt x="2980484" y="82311"/>
                        <a:pt x="2926195" y="209844"/>
                      </a:cubicBezTo>
                      <a:lnTo>
                        <a:pt x="2186197" y="1945720"/>
                      </a:lnTo>
                      <a:lnTo>
                        <a:pt x="313463" y="2116044"/>
                      </a:lnTo>
                      <a:cubicBezTo>
                        <a:pt x="176182" y="2128738"/>
                        <a:pt x="59934" y="2221909"/>
                        <a:pt x="16978" y="2353260"/>
                      </a:cubicBezTo>
                      <a:cubicBezTo>
                        <a:pt x="-25730" y="2484858"/>
                        <a:pt x="13712" y="2629201"/>
                        <a:pt x="117539" y="2720437"/>
                      </a:cubicBezTo>
                      <a:lnTo>
                        <a:pt x="1532952" y="3963982"/>
                      </a:lnTo>
                      <a:lnTo>
                        <a:pt x="1115618" y="5805672"/>
                      </a:lnTo>
                      <a:cubicBezTo>
                        <a:pt x="1085084" y="5941089"/>
                        <a:pt x="1137541" y="6081117"/>
                        <a:pt x="1249681" y="6162338"/>
                      </a:cubicBezTo>
                      <a:cubicBezTo>
                        <a:pt x="1309958" y="6206221"/>
                        <a:pt x="1380776" y="6228137"/>
                        <a:pt x="1451841" y="6228137"/>
                      </a:cubicBezTo>
                      <a:cubicBezTo>
                        <a:pt x="1512910" y="6228137"/>
                        <a:pt x="1574028" y="6211873"/>
                        <a:pt x="1628613" y="6179147"/>
                      </a:cubicBezTo>
                      <a:lnTo>
                        <a:pt x="3243217" y="5211841"/>
                      </a:lnTo>
                      <a:lnTo>
                        <a:pt x="4857524" y="6179147"/>
                      </a:lnTo>
                      <a:cubicBezTo>
                        <a:pt x="4975950" y="6250054"/>
                        <a:pt x="5124860" y="6243558"/>
                        <a:pt x="5236753" y="6162338"/>
                      </a:cubicBezTo>
                      <a:cubicBezTo>
                        <a:pt x="5348893" y="6081117"/>
                        <a:pt x="5401351" y="5941089"/>
                        <a:pt x="5370816" y="5805672"/>
                      </a:cubicBezTo>
                      <a:lnTo>
                        <a:pt x="4953482" y="3963982"/>
                      </a:lnTo>
                      <a:lnTo>
                        <a:pt x="6368896" y="2720437"/>
                      </a:lnTo>
                      <a:cubicBezTo>
                        <a:pt x="6472672" y="2629201"/>
                        <a:pt x="6512164" y="2485156"/>
                        <a:pt x="6469456" y="235326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50"/>
                    <a:buFont typeface="Arial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" name="Google Shape;792;p12"/>
                <p:cNvSpPr/>
                <p:nvPr/>
              </p:nvSpPr>
              <p:spPr>
                <a:xfrm>
                  <a:off x="418811" y="3530425"/>
                  <a:ext cx="205475" cy="1972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426" h="6228137" extrusionOk="0">
                      <a:moveTo>
                        <a:pt x="6469456" y="2353260"/>
                      </a:moveTo>
                      <a:cubicBezTo>
                        <a:pt x="6426747" y="2221661"/>
                        <a:pt x="6310252" y="2128490"/>
                        <a:pt x="6172972" y="2116044"/>
                      </a:cubicBezTo>
                      <a:lnTo>
                        <a:pt x="4300534" y="1945720"/>
                      </a:lnTo>
                      <a:lnTo>
                        <a:pt x="3560536" y="209844"/>
                      </a:lnTo>
                      <a:cubicBezTo>
                        <a:pt x="3505901" y="82311"/>
                        <a:pt x="3381586" y="0"/>
                        <a:pt x="3243217" y="0"/>
                      </a:cubicBezTo>
                      <a:cubicBezTo>
                        <a:pt x="3104848" y="0"/>
                        <a:pt x="2980484" y="82311"/>
                        <a:pt x="2926195" y="209844"/>
                      </a:cubicBezTo>
                      <a:lnTo>
                        <a:pt x="2186197" y="1945720"/>
                      </a:lnTo>
                      <a:lnTo>
                        <a:pt x="313463" y="2116044"/>
                      </a:lnTo>
                      <a:cubicBezTo>
                        <a:pt x="176182" y="2128738"/>
                        <a:pt x="59934" y="2221909"/>
                        <a:pt x="16978" y="2353260"/>
                      </a:cubicBezTo>
                      <a:cubicBezTo>
                        <a:pt x="-25730" y="2484858"/>
                        <a:pt x="13712" y="2629201"/>
                        <a:pt x="117539" y="2720437"/>
                      </a:cubicBezTo>
                      <a:lnTo>
                        <a:pt x="1532952" y="3963982"/>
                      </a:lnTo>
                      <a:lnTo>
                        <a:pt x="1115618" y="5805672"/>
                      </a:lnTo>
                      <a:cubicBezTo>
                        <a:pt x="1085084" y="5941089"/>
                        <a:pt x="1137541" y="6081117"/>
                        <a:pt x="1249681" y="6162338"/>
                      </a:cubicBezTo>
                      <a:cubicBezTo>
                        <a:pt x="1309958" y="6206221"/>
                        <a:pt x="1380776" y="6228137"/>
                        <a:pt x="1451841" y="6228137"/>
                      </a:cubicBezTo>
                      <a:cubicBezTo>
                        <a:pt x="1512910" y="6228137"/>
                        <a:pt x="1574028" y="6211873"/>
                        <a:pt x="1628613" y="6179147"/>
                      </a:cubicBezTo>
                      <a:lnTo>
                        <a:pt x="3243217" y="5211841"/>
                      </a:lnTo>
                      <a:lnTo>
                        <a:pt x="4857524" y="6179147"/>
                      </a:lnTo>
                      <a:cubicBezTo>
                        <a:pt x="4975950" y="6250054"/>
                        <a:pt x="5124860" y="6243558"/>
                        <a:pt x="5236753" y="6162338"/>
                      </a:cubicBezTo>
                      <a:cubicBezTo>
                        <a:pt x="5348893" y="6081117"/>
                        <a:pt x="5401351" y="5941089"/>
                        <a:pt x="5370816" y="5805672"/>
                      </a:cubicBezTo>
                      <a:lnTo>
                        <a:pt x="4953482" y="3963982"/>
                      </a:lnTo>
                      <a:lnTo>
                        <a:pt x="6368896" y="2720437"/>
                      </a:lnTo>
                      <a:cubicBezTo>
                        <a:pt x="6472672" y="2629201"/>
                        <a:pt x="6512164" y="2485156"/>
                        <a:pt x="6469456" y="235326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50"/>
                    <a:buFont typeface="Arial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3" name="Google Shape;793;p12"/>
                <p:cNvSpPr/>
                <p:nvPr/>
              </p:nvSpPr>
              <p:spPr>
                <a:xfrm>
                  <a:off x="418810" y="1637603"/>
                  <a:ext cx="205475" cy="1972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6426" h="6228137" extrusionOk="0">
                      <a:moveTo>
                        <a:pt x="6469456" y="2353260"/>
                      </a:moveTo>
                      <a:cubicBezTo>
                        <a:pt x="6426747" y="2221661"/>
                        <a:pt x="6310252" y="2128490"/>
                        <a:pt x="6172972" y="2116044"/>
                      </a:cubicBezTo>
                      <a:lnTo>
                        <a:pt x="4300534" y="1945720"/>
                      </a:lnTo>
                      <a:lnTo>
                        <a:pt x="3560536" y="209844"/>
                      </a:lnTo>
                      <a:cubicBezTo>
                        <a:pt x="3505901" y="82311"/>
                        <a:pt x="3381586" y="0"/>
                        <a:pt x="3243217" y="0"/>
                      </a:cubicBezTo>
                      <a:cubicBezTo>
                        <a:pt x="3104848" y="0"/>
                        <a:pt x="2980484" y="82311"/>
                        <a:pt x="2926195" y="209844"/>
                      </a:cubicBezTo>
                      <a:lnTo>
                        <a:pt x="2186197" y="1945720"/>
                      </a:lnTo>
                      <a:lnTo>
                        <a:pt x="313463" y="2116044"/>
                      </a:lnTo>
                      <a:cubicBezTo>
                        <a:pt x="176182" y="2128738"/>
                        <a:pt x="59934" y="2221909"/>
                        <a:pt x="16978" y="2353260"/>
                      </a:cubicBezTo>
                      <a:cubicBezTo>
                        <a:pt x="-25730" y="2484858"/>
                        <a:pt x="13712" y="2629201"/>
                        <a:pt x="117539" y="2720437"/>
                      </a:cubicBezTo>
                      <a:lnTo>
                        <a:pt x="1532952" y="3963982"/>
                      </a:lnTo>
                      <a:lnTo>
                        <a:pt x="1115618" y="5805672"/>
                      </a:lnTo>
                      <a:cubicBezTo>
                        <a:pt x="1085084" y="5941089"/>
                        <a:pt x="1137541" y="6081117"/>
                        <a:pt x="1249681" y="6162338"/>
                      </a:cubicBezTo>
                      <a:cubicBezTo>
                        <a:pt x="1309958" y="6206221"/>
                        <a:pt x="1380776" y="6228137"/>
                        <a:pt x="1451841" y="6228137"/>
                      </a:cubicBezTo>
                      <a:cubicBezTo>
                        <a:pt x="1512910" y="6228137"/>
                        <a:pt x="1574028" y="6211873"/>
                        <a:pt x="1628613" y="6179147"/>
                      </a:cubicBezTo>
                      <a:lnTo>
                        <a:pt x="3243217" y="5211841"/>
                      </a:lnTo>
                      <a:lnTo>
                        <a:pt x="4857524" y="6179147"/>
                      </a:lnTo>
                      <a:cubicBezTo>
                        <a:pt x="4975950" y="6250054"/>
                        <a:pt x="5124860" y="6243558"/>
                        <a:pt x="5236753" y="6162338"/>
                      </a:cubicBezTo>
                      <a:cubicBezTo>
                        <a:pt x="5348893" y="6081117"/>
                        <a:pt x="5401351" y="5941089"/>
                        <a:pt x="5370816" y="5805672"/>
                      </a:cubicBezTo>
                      <a:lnTo>
                        <a:pt x="4953482" y="3963982"/>
                      </a:lnTo>
                      <a:lnTo>
                        <a:pt x="6368896" y="2720437"/>
                      </a:lnTo>
                      <a:cubicBezTo>
                        <a:pt x="6472672" y="2629201"/>
                        <a:pt x="6512164" y="2485156"/>
                        <a:pt x="6469456" y="235326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350"/>
                    <a:buFont typeface="Arial"/>
                    <a:buNone/>
                  </a:pPr>
                  <a:endParaRPr sz="135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4" name="Google Shape;794;p12"/>
                <p:cNvSpPr txBox="1"/>
                <p:nvPr/>
              </p:nvSpPr>
              <p:spPr>
                <a:xfrm>
                  <a:off x="759193" y="2734922"/>
                  <a:ext cx="2402100" cy="76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1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Wall construction: 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US" sz="11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190mm hollow concrete blocks with a density of 1,280kg/m³ and a strength grade of MU15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795" name="Google Shape;795;p12"/>
            <p:cNvSpPr txBox="1"/>
            <p:nvPr/>
          </p:nvSpPr>
          <p:spPr>
            <a:xfrm>
              <a:off x="6644705" y="2249698"/>
              <a:ext cx="2310104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Damp proof course: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60mm C15 fine aggregate concrete layer is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2"/>
            <p:cNvSpPr txBox="1"/>
            <p:nvPr/>
          </p:nvSpPr>
          <p:spPr>
            <a:xfrm>
              <a:off x="6701589" y="4330048"/>
              <a:ext cx="2310104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Doors &amp; Windows: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Wooden door and sliding glass windows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7" name="Google Shape;797;p12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13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3"/>
          <p:cNvSpPr/>
          <p:nvPr/>
        </p:nvSpPr>
        <p:spPr>
          <a:xfrm flipH="1">
            <a:off x="3067398" y="3060106"/>
            <a:ext cx="1918157" cy="869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Transfer Station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Dimensions: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17.07 x 14.96 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Floor Area: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255.36 m²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Height: </a:t>
            </a:r>
            <a:r>
              <a:rPr lang="en-US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9.144 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endParaRPr sz="825" b="0" i="0" u="none" strike="noStrike" cap="none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p13"/>
          <p:cNvSpPr/>
          <p:nvPr/>
        </p:nvSpPr>
        <p:spPr>
          <a:xfrm>
            <a:off x="633660" y="943675"/>
            <a:ext cx="1962381" cy="789971"/>
          </a:xfrm>
          <a:prstGeom prst="homePlate">
            <a:avLst>
              <a:gd name="adj" fmla="val 3553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3"/>
          <p:cNvSpPr/>
          <p:nvPr/>
        </p:nvSpPr>
        <p:spPr>
          <a:xfrm>
            <a:off x="2981647" y="903569"/>
            <a:ext cx="1962381" cy="789971"/>
          </a:xfrm>
          <a:prstGeom prst="homePlate">
            <a:avLst>
              <a:gd name="adj" fmla="val 3553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13"/>
          <p:cNvSpPr/>
          <p:nvPr/>
        </p:nvSpPr>
        <p:spPr>
          <a:xfrm>
            <a:off x="5557672" y="911521"/>
            <a:ext cx="1962381" cy="789971"/>
          </a:xfrm>
          <a:prstGeom prst="homePlate">
            <a:avLst>
              <a:gd name="adj" fmla="val 35531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13"/>
          <p:cNvSpPr/>
          <p:nvPr/>
        </p:nvSpPr>
        <p:spPr>
          <a:xfrm flipH="1">
            <a:off x="775394" y="1060284"/>
            <a:ext cx="104172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Building Area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3"/>
          <p:cNvSpPr/>
          <p:nvPr/>
        </p:nvSpPr>
        <p:spPr>
          <a:xfrm>
            <a:off x="552881" y="1616677"/>
            <a:ext cx="204316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Area: 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300 m²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Area: 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368 m²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3"/>
          <p:cNvSpPr/>
          <p:nvPr/>
        </p:nvSpPr>
        <p:spPr>
          <a:xfrm>
            <a:off x="2970318" y="1771583"/>
            <a:ext cx="2152423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Office Building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Dimensions: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5.48 x 4.87 m and 5.48 x 3.2 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Floor Area: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26.68 m² and 17.53 m²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Height: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3.048 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3"/>
          <p:cNvSpPr/>
          <p:nvPr/>
        </p:nvSpPr>
        <p:spPr>
          <a:xfrm>
            <a:off x="590401" y="2633357"/>
            <a:ext cx="204316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Structural Style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Foundation: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Shallow and Square</a:t>
            </a: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Body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RCC Frame Structure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3"/>
          <p:cNvSpPr/>
          <p:nvPr/>
        </p:nvSpPr>
        <p:spPr>
          <a:xfrm flipH="1">
            <a:off x="3209685" y="1021754"/>
            <a:ext cx="104172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Building Dimension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3"/>
          <p:cNvSpPr/>
          <p:nvPr/>
        </p:nvSpPr>
        <p:spPr>
          <a:xfrm flipH="1">
            <a:off x="5656346" y="1021755"/>
            <a:ext cx="160319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Building Construction</a:t>
            </a:r>
            <a:endParaRPr sz="1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3"/>
          <p:cNvSpPr/>
          <p:nvPr/>
        </p:nvSpPr>
        <p:spPr>
          <a:xfrm>
            <a:off x="5513997" y="1747576"/>
            <a:ext cx="3497580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Wall Body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Brick Masonry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Roof: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Office: RCC Roof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Station: Steel Truss Roof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Floor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Cement mortar floor,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tile floor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3.Windows &amp; Doors</a:t>
            </a: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Glass Window, Wooden Door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office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Plastic door for bathroom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Steel Shutter for station building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3"/>
          <p:cNvSpPr txBox="1"/>
          <p:nvPr/>
        </p:nvSpPr>
        <p:spPr>
          <a:xfrm>
            <a:off x="0" y="0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Basis of Design (BOD)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13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14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19;p14">
            <a:extLst>
              <a:ext uri="{FF2B5EF4-FFF2-40B4-BE49-F238E27FC236}">
                <a16:creationId xmlns:a16="http://schemas.microsoft.com/office/drawing/2014/main" id="{9C9944F9-7244-E2DA-9BAD-04B80FB755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9625" y="2623800"/>
            <a:ext cx="2469125" cy="17129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20;p14">
            <a:extLst>
              <a:ext uri="{FF2B5EF4-FFF2-40B4-BE49-F238E27FC236}">
                <a16:creationId xmlns:a16="http://schemas.microsoft.com/office/drawing/2014/main" id="{47170D86-8BD1-0A33-49E9-C917930AC1FC}"/>
              </a:ext>
            </a:extLst>
          </p:cNvPr>
          <p:cNvSpPr/>
          <p:nvPr/>
        </p:nvSpPr>
        <p:spPr>
          <a:xfrm>
            <a:off x="8004517" y="4925148"/>
            <a:ext cx="1139483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15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821;p14">
            <a:extLst>
              <a:ext uri="{FF2B5EF4-FFF2-40B4-BE49-F238E27FC236}">
                <a16:creationId xmlns:a16="http://schemas.microsoft.com/office/drawing/2014/main" id="{63994A95-BE10-D476-FF1C-22AA6649D7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9625" y="832050"/>
            <a:ext cx="2469124" cy="179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2;p14">
            <a:extLst>
              <a:ext uri="{FF2B5EF4-FFF2-40B4-BE49-F238E27FC236}">
                <a16:creationId xmlns:a16="http://schemas.microsoft.com/office/drawing/2014/main" id="{9DEAB4AF-12DE-2517-5311-BD16C5A84F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40891" t="42165" r="41358" b="44041"/>
          <a:stretch/>
        </p:blipFill>
        <p:spPr>
          <a:xfrm>
            <a:off x="322375" y="832050"/>
            <a:ext cx="2645901" cy="179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23;p14">
            <a:extLst>
              <a:ext uri="{FF2B5EF4-FFF2-40B4-BE49-F238E27FC236}">
                <a16:creationId xmlns:a16="http://schemas.microsoft.com/office/drawing/2014/main" id="{A575541B-F0C9-4F58-2373-9133A670F07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3614"/>
          <a:stretch/>
        </p:blipFill>
        <p:spPr>
          <a:xfrm>
            <a:off x="322375" y="2623825"/>
            <a:ext cx="2645901" cy="17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24;p14">
            <a:extLst>
              <a:ext uri="{FF2B5EF4-FFF2-40B4-BE49-F238E27FC236}">
                <a16:creationId xmlns:a16="http://schemas.microsoft.com/office/drawing/2014/main" id="{717A39F9-1BDE-6DA3-F944-5D039A21772F}"/>
              </a:ext>
            </a:extLst>
          </p:cNvPr>
          <p:cNvSpPr txBox="1"/>
          <p:nvPr/>
        </p:nvSpPr>
        <p:spPr>
          <a:xfrm>
            <a:off x="0" y="11496"/>
            <a:ext cx="9144000" cy="6183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205725" tIns="137150" rIns="205725" bIns="137150" anchor="ctr" anchorCtr="1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0994"/>
              <a:buFont typeface="Fira Sans Extra Condensed SemiBold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ARCHITECTURAL DRAWING WITH ALTERNATIVES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825;p14">
            <a:extLst>
              <a:ext uri="{FF2B5EF4-FFF2-40B4-BE49-F238E27FC236}">
                <a16:creationId xmlns:a16="http://schemas.microsoft.com/office/drawing/2014/main" id="{60AF0BFF-F1D2-34A6-1901-91AE1E22D4B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66100" y="832050"/>
            <a:ext cx="2469126" cy="179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26;p14">
            <a:extLst>
              <a:ext uri="{FF2B5EF4-FFF2-40B4-BE49-F238E27FC236}">
                <a16:creationId xmlns:a16="http://schemas.microsoft.com/office/drawing/2014/main" id="{14A3E0F5-A142-6CC8-4507-2F127BFF32F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66100" y="2623800"/>
            <a:ext cx="2469126" cy="17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5C0A3A-CBAD-82FE-AAD6-63396F57B208}"/>
              </a:ext>
            </a:extLst>
          </p:cNvPr>
          <p:cNvSpPr txBox="1"/>
          <p:nvPr/>
        </p:nvSpPr>
        <p:spPr>
          <a:xfrm>
            <a:off x="1411928" y="433675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(1)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4A18E-42E9-B2C3-416F-27F854DD48C6}"/>
              </a:ext>
            </a:extLst>
          </p:cNvPr>
          <p:cNvSpPr txBox="1"/>
          <p:nvPr/>
        </p:nvSpPr>
        <p:spPr>
          <a:xfrm>
            <a:off x="4333791" y="431145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(2)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C72830-CBD4-5043-2A40-2B12F264BB10}"/>
              </a:ext>
            </a:extLst>
          </p:cNvPr>
          <p:cNvSpPr txBox="1"/>
          <p:nvPr/>
        </p:nvSpPr>
        <p:spPr>
          <a:xfrm>
            <a:off x="7167266" y="431145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2712524020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6"/>
          <p:cNvSpPr txBox="1"/>
          <p:nvPr/>
        </p:nvSpPr>
        <p:spPr>
          <a:xfrm>
            <a:off x="0" y="11496"/>
            <a:ext cx="9144000" cy="619180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TECHNICAL AND ENGINEERING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6"/>
          <p:cNvSpPr/>
          <p:nvPr/>
        </p:nvSpPr>
        <p:spPr>
          <a:xfrm>
            <a:off x="8025618" y="4925148"/>
            <a:ext cx="1118382" cy="2183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3" name="Google Shape;833;p16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446330" y="630676"/>
            <a:ext cx="4162242" cy="3375006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16"/>
          <p:cNvSpPr txBox="1"/>
          <p:nvPr/>
        </p:nvSpPr>
        <p:spPr>
          <a:xfrm>
            <a:off x="2406650" y="4186484"/>
            <a:ext cx="3155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1.4D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1.2D + 1.6L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1.2D + (Lor 0.8W)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6"/>
          <p:cNvSpPr txBox="1"/>
          <p:nvPr/>
        </p:nvSpPr>
        <p:spPr>
          <a:xfrm>
            <a:off x="5428859" y="4117802"/>
            <a:ext cx="315595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1.2D+ 1.6W + 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1.2D+ E+ 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0.9D+ 1.6W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0.9D+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6"/>
          <p:cNvSpPr txBox="1"/>
          <p:nvPr/>
        </p:nvSpPr>
        <p:spPr>
          <a:xfrm>
            <a:off x="313266" y="4251214"/>
            <a:ext cx="172720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Load Combination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011B38-742E-FD97-2C82-B366D1ED9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2" y="633176"/>
            <a:ext cx="4182022" cy="3382451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2056c7e390_2_24"/>
          <p:cNvSpPr txBox="1"/>
          <p:nvPr/>
        </p:nvSpPr>
        <p:spPr>
          <a:xfrm>
            <a:off x="0" y="11496"/>
            <a:ext cx="9144000" cy="619200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TECHNICAL AND ENGINEERING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32056c7e390_2_24"/>
          <p:cNvSpPr/>
          <p:nvPr/>
        </p:nvSpPr>
        <p:spPr>
          <a:xfrm>
            <a:off x="8025618" y="4925148"/>
            <a:ext cx="1118400" cy="218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17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3" name="Google Shape;843;g32056c7e390_2_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8000" y="1077646"/>
            <a:ext cx="6567999" cy="3989652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g32056c7e390_2_24"/>
          <p:cNvSpPr txBox="1"/>
          <p:nvPr/>
        </p:nvSpPr>
        <p:spPr>
          <a:xfrm>
            <a:off x="2364594" y="692178"/>
            <a:ext cx="4414800" cy="400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Finalized Design Sections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>
            <a:alpha val="69411"/>
          </a:srgbClr>
        </a:solidFill>
        <a:effectLst/>
      </p:bgPr>
    </p:bg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7"/>
          <p:cNvSpPr/>
          <p:nvPr/>
        </p:nvSpPr>
        <p:spPr>
          <a:xfrm>
            <a:off x="8153926" y="-7620"/>
            <a:ext cx="990074" cy="21835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1904080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0" name="Google Shape;85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36488" y="623795"/>
            <a:ext cx="6207512" cy="4037105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17"/>
          <p:cNvSpPr txBox="1"/>
          <p:nvPr/>
        </p:nvSpPr>
        <p:spPr>
          <a:xfrm>
            <a:off x="0" y="0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Details Drawing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7"/>
          <p:cNvSpPr/>
          <p:nvPr/>
        </p:nvSpPr>
        <p:spPr>
          <a:xfrm>
            <a:off x="182630" y="413062"/>
            <a:ext cx="3525520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Building Dimensions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16,800 x 14,700 mm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Sections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Office Room 1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2600 x 4600 mm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Office Room 2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3000 x 3000 mm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Staff Room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3300 x 3150 mm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Additional Features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Van Parking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1050 x 1300 mm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7"/>
          <p:cNvSpPr txBox="1"/>
          <p:nvPr/>
        </p:nvSpPr>
        <p:spPr>
          <a:xfrm>
            <a:off x="71120" y="413062"/>
            <a:ext cx="2659380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 Floor Plan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7"/>
          <p:cNvSpPr txBox="1"/>
          <p:nvPr/>
        </p:nvSpPr>
        <p:spPr>
          <a:xfrm>
            <a:off x="4893309" y="4637210"/>
            <a:ext cx="2659380" cy="37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Ground Floor plan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17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18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9"/>
          <p:cNvSpPr/>
          <p:nvPr/>
        </p:nvSpPr>
        <p:spPr>
          <a:xfrm>
            <a:off x="0" y="101556"/>
            <a:ext cx="3200400" cy="5143500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9"/>
          <p:cNvSpPr txBox="1"/>
          <p:nvPr/>
        </p:nvSpPr>
        <p:spPr>
          <a:xfrm>
            <a:off x="63564" y="444416"/>
            <a:ext cx="2659380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Grade Beam Layout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9"/>
          <p:cNvSpPr/>
          <p:nvPr/>
        </p:nvSpPr>
        <p:spPr>
          <a:xfrm>
            <a:off x="8153926" y="-7620"/>
            <a:ext cx="990074" cy="21835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1904080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19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1</a:t>
            </a:r>
            <a:r>
              <a:rPr lang="en-US" dirty="0">
                <a:solidFill>
                  <a:schemeClr val="dk1"/>
                </a:solidFill>
              </a:rPr>
              <a:t>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1" name="Google Shape;881;p19"/>
          <p:cNvPicPr preferRelativeResize="0"/>
          <p:nvPr/>
        </p:nvPicPr>
        <p:blipFill rotWithShape="1">
          <a:blip r:embed="rId3">
            <a:alphaModFix/>
          </a:blip>
          <a:srcRect l="1255" t="2531" r="1255"/>
          <a:stretch/>
        </p:blipFill>
        <p:spPr>
          <a:xfrm>
            <a:off x="3200400" y="847494"/>
            <a:ext cx="5943600" cy="3604294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19"/>
          <p:cNvSpPr txBox="1"/>
          <p:nvPr/>
        </p:nvSpPr>
        <p:spPr>
          <a:xfrm>
            <a:off x="0" y="0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Details Drawing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19"/>
          <p:cNvSpPr txBox="1"/>
          <p:nvPr/>
        </p:nvSpPr>
        <p:spPr>
          <a:xfrm>
            <a:off x="20580" y="1124075"/>
            <a:ext cx="2162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Rectangular Beam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❖"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12”x 18”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4" name="Google Shape;884;p19"/>
          <p:cNvSpPr txBox="1"/>
          <p:nvPr/>
        </p:nvSpPr>
        <p:spPr>
          <a:xfrm>
            <a:off x="69407" y="716254"/>
            <a:ext cx="1667954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Beam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19"/>
          <p:cNvSpPr/>
          <p:nvPr/>
        </p:nvSpPr>
        <p:spPr>
          <a:xfrm>
            <a:off x="74580" y="1875688"/>
            <a:ext cx="3051240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G1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Near Column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3-16 Ø Thru, 10 Ø @ 85 mm C/C.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 Span Section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3-16 Ø Thru, 10 Ø @ 175 mm C/C.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G2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Near Column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3-16 Ø Thru, 10 Ø @ 85 mm C/C, 2-16 Ø Ext.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 Span Section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3-16 Ø Thru, 10 Ø @ 175 mm C/C.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9"/>
          <p:cNvSpPr txBox="1"/>
          <p:nvPr/>
        </p:nvSpPr>
        <p:spPr>
          <a:xfrm>
            <a:off x="5071110" y="4450109"/>
            <a:ext cx="2659380" cy="37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Grade beam layout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8"/>
          <p:cNvSpPr/>
          <p:nvPr/>
        </p:nvSpPr>
        <p:spPr>
          <a:xfrm>
            <a:off x="0" y="0"/>
            <a:ext cx="4021297" cy="5143500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1" name="Google Shape;861;p1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148" r="4147"/>
          <a:stretch/>
        </p:blipFill>
        <p:spPr>
          <a:xfrm>
            <a:off x="4089877" y="636571"/>
            <a:ext cx="5122862" cy="37433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862" name="Google Shape;862;p18"/>
          <p:cNvSpPr txBox="1"/>
          <p:nvPr/>
        </p:nvSpPr>
        <p:spPr>
          <a:xfrm>
            <a:off x="91440" y="1268923"/>
            <a:ext cx="2900264" cy="89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 Column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Reinforced with Longitudinal bars and lateral ties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18"/>
          <p:cNvSpPr txBox="1"/>
          <p:nvPr/>
        </p:nvSpPr>
        <p:spPr>
          <a:xfrm>
            <a:off x="91440" y="896113"/>
            <a:ext cx="2064817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column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18"/>
          <p:cNvSpPr/>
          <p:nvPr/>
        </p:nvSpPr>
        <p:spPr>
          <a:xfrm>
            <a:off x="8153926" y="-7620"/>
            <a:ext cx="990074" cy="21835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1904080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8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</a:t>
            </a:r>
            <a:r>
              <a:rPr lang="en-US" dirty="0">
                <a:solidFill>
                  <a:schemeClr val="dk1"/>
                </a:solidFill>
              </a:rPr>
              <a:t>20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8"/>
          <p:cNvSpPr txBox="1"/>
          <p:nvPr/>
        </p:nvSpPr>
        <p:spPr>
          <a:xfrm>
            <a:off x="160020" y="2193762"/>
            <a:ext cx="2900264" cy="144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 Col : 12”x12” , 10’ height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STS Col : 16”x16”, 20’ height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Types of Detailing: C1, C2, C3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7" name="Google Shape;867;p18"/>
          <p:cNvSpPr txBox="1"/>
          <p:nvPr/>
        </p:nvSpPr>
        <p:spPr>
          <a:xfrm>
            <a:off x="91440" y="2112475"/>
            <a:ext cx="2727960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  Dimension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18"/>
          <p:cNvSpPr txBox="1"/>
          <p:nvPr/>
        </p:nvSpPr>
        <p:spPr>
          <a:xfrm>
            <a:off x="1557183" y="3731049"/>
            <a:ext cx="2900264" cy="61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0" lvl="0" indent="-95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9" name="Google Shape;869;p18"/>
          <p:cNvSpPr/>
          <p:nvPr/>
        </p:nvSpPr>
        <p:spPr>
          <a:xfrm>
            <a:off x="91440" y="3583802"/>
            <a:ext cx="3762949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100 mm | S: 200 mm | lo: 450 mm | L: 3000 mm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:125 mm | S: 250 mm | lo: 925 mm | L: 6000 mm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:125 mm | S: 250 mm | lo: 925 mm | L: 6000 mm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18"/>
          <p:cNvSpPr txBox="1"/>
          <p:nvPr/>
        </p:nvSpPr>
        <p:spPr>
          <a:xfrm>
            <a:off x="0" y="0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Details Drawing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18"/>
          <p:cNvSpPr txBox="1"/>
          <p:nvPr/>
        </p:nvSpPr>
        <p:spPr>
          <a:xfrm>
            <a:off x="58736" y="459100"/>
            <a:ext cx="3861277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 Design Overview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18"/>
          <p:cNvSpPr txBox="1"/>
          <p:nvPr/>
        </p:nvSpPr>
        <p:spPr>
          <a:xfrm>
            <a:off x="5387340" y="4275688"/>
            <a:ext cx="2659380" cy="37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Column Layout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0"/>
          <p:cNvSpPr/>
          <p:nvPr/>
        </p:nvSpPr>
        <p:spPr>
          <a:xfrm>
            <a:off x="0" y="-34724"/>
            <a:ext cx="3363000" cy="5178300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vRectangular Beam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20"/>
          <p:cNvSpPr txBox="1"/>
          <p:nvPr/>
        </p:nvSpPr>
        <p:spPr>
          <a:xfrm>
            <a:off x="-37499" y="559869"/>
            <a:ext cx="292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Beam Design overview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20"/>
          <p:cNvSpPr/>
          <p:nvPr/>
        </p:nvSpPr>
        <p:spPr>
          <a:xfrm>
            <a:off x="8153926" y="-7620"/>
            <a:ext cx="990074" cy="21835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1904080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20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21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5" name="Google Shape;89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3000" y="444420"/>
            <a:ext cx="5768092" cy="4339464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20"/>
          <p:cNvSpPr/>
          <p:nvPr/>
        </p:nvSpPr>
        <p:spPr>
          <a:xfrm>
            <a:off x="0" y="1301999"/>
            <a:ext cx="3517800" cy="3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Beam Layout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Details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X-X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3-16 Ø Thru, 10 Ø @ 85 mm C/C.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Y-Y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3-16 Ø Thru, 10 Ø @ 175 mm C/C.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Stirrups Legend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10 Ø @ 85 mm C/C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10 Ø @ 175 mm C/C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10 Ø @ 100 mm C/C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20"/>
          <p:cNvSpPr txBox="1"/>
          <p:nvPr/>
        </p:nvSpPr>
        <p:spPr>
          <a:xfrm>
            <a:off x="0" y="0"/>
            <a:ext cx="9144000" cy="436800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Details Drawing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20"/>
          <p:cNvSpPr txBox="1"/>
          <p:nvPr/>
        </p:nvSpPr>
        <p:spPr>
          <a:xfrm>
            <a:off x="4378371" y="4509690"/>
            <a:ext cx="265938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Beam Detailing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9" name="Google Shape;89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897184"/>
            <a:ext cx="2461333" cy="436800"/>
          </a:xfrm>
          <a:prstGeom prst="rect">
            <a:avLst/>
          </a:prstGeom>
          <a:solidFill>
            <a:srgbClr val="D8E8F1"/>
          </a:solidFill>
          <a:ln>
            <a:noFill/>
          </a:ln>
        </p:spPr>
      </p:pic>
    </p:spTree>
  </p:cSld>
  <p:clrMapOvr>
    <a:masterClrMapping/>
  </p:clrMapOvr>
  <p:transition spd="slow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9101" y="2610155"/>
            <a:ext cx="3233855" cy="226199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21"/>
          <p:cNvSpPr/>
          <p:nvPr/>
        </p:nvSpPr>
        <p:spPr>
          <a:xfrm>
            <a:off x="0" y="-34724"/>
            <a:ext cx="4459862" cy="5178224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21"/>
          <p:cNvSpPr txBox="1"/>
          <p:nvPr/>
        </p:nvSpPr>
        <p:spPr>
          <a:xfrm>
            <a:off x="0" y="-10160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Details Drawing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21"/>
          <p:cNvSpPr txBox="1"/>
          <p:nvPr/>
        </p:nvSpPr>
        <p:spPr>
          <a:xfrm>
            <a:off x="0" y="1409458"/>
            <a:ext cx="2064817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 room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21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22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21"/>
          <p:cNvSpPr txBox="1"/>
          <p:nvPr/>
        </p:nvSpPr>
        <p:spPr>
          <a:xfrm>
            <a:off x="0" y="842340"/>
            <a:ext cx="2900264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Supported Two way slab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❖"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Discontinuous at four edges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21"/>
          <p:cNvSpPr txBox="1"/>
          <p:nvPr/>
        </p:nvSpPr>
        <p:spPr>
          <a:xfrm>
            <a:off x="0" y="458247"/>
            <a:ext cx="2064817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Slab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p21"/>
          <p:cNvPicPr preferRelativeResize="0"/>
          <p:nvPr/>
        </p:nvPicPr>
        <p:blipFill rotWithShape="1">
          <a:blip r:embed="rId4">
            <a:alphaModFix/>
          </a:blip>
          <a:srcRect l="1328" r="4066"/>
          <a:stretch/>
        </p:blipFill>
        <p:spPr>
          <a:xfrm>
            <a:off x="4899101" y="451200"/>
            <a:ext cx="3147619" cy="226199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21"/>
          <p:cNvSpPr/>
          <p:nvPr/>
        </p:nvSpPr>
        <p:spPr>
          <a:xfrm>
            <a:off x="0" y="1821532"/>
            <a:ext cx="4459862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Ø10 mm bar @ 225 mm c/c (Straight Bottom)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Ø10 mm bar @ 250 mm c/c (Straight Top)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Ø10 mm corner bar @ 250 mm c/c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Diagonally at top, perpendicular at bottom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1"/>
          <p:cNvSpPr/>
          <p:nvPr/>
        </p:nvSpPr>
        <p:spPr>
          <a:xfrm>
            <a:off x="0" y="3311518"/>
            <a:ext cx="426720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Ø10 mm bar @ 250 mm c/c (Straight Bottom)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Ø10 mm bar @ 250 mm c/c (Straight Top)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Ø10 mm corner bar @ 250 mm c/c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Diagonally at top, perpendicular at bottom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21"/>
          <p:cNvSpPr txBox="1"/>
          <p:nvPr/>
        </p:nvSpPr>
        <p:spPr>
          <a:xfrm>
            <a:off x="0" y="2800241"/>
            <a:ext cx="2064817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Staff room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21"/>
          <p:cNvSpPr txBox="1"/>
          <p:nvPr/>
        </p:nvSpPr>
        <p:spPr>
          <a:xfrm>
            <a:off x="5826579" y="4769109"/>
            <a:ext cx="2659380" cy="37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Slab layout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2"/>
          <p:cNvSpPr/>
          <p:nvPr/>
        </p:nvSpPr>
        <p:spPr>
          <a:xfrm>
            <a:off x="0" y="0"/>
            <a:ext cx="3954966" cy="5143500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22"/>
          <p:cNvSpPr txBox="1"/>
          <p:nvPr/>
        </p:nvSpPr>
        <p:spPr>
          <a:xfrm>
            <a:off x="0" y="-10160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Details Drawing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2" name="Google Shape;922;p2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4026" r="4490"/>
          <a:stretch/>
        </p:blipFill>
        <p:spPr>
          <a:xfrm>
            <a:off x="3954966" y="795387"/>
            <a:ext cx="5189033" cy="358186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923" name="Google Shape;923;p22"/>
          <p:cNvSpPr txBox="1"/>
          <p:nvPr/>
        </p:nvSpPr>
        <p:spPr>
          <a:xfrm>
            <a:off x="-1" y="710123"/>
            <a:ext cx="3678463" cy="61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 footing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Reinforced with Longitudinal bars and lateral ties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22"/>
          <p:cNvSpPr txBox="1"/>
          <p:nvPr/>
        </p:nvSpPr>
        <p:spPr>
          <a:xfrm>
            <a:off x="0" y="337313"/>
            <a:ext cx="2064817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Footing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22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23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22"/>
          <p:cNvSpPr txBox="1"/>
          <p:nvPr/>
        </p:nvSpPr>
        <p:spPr>
          <a:xfrm>
            <a:off x="63987" y="1333400"/>
            <a:ext cx="3890979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Footing Layout and Reinforcement Details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Footing Layout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Footing Types: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F1, F2, F3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Gridlines: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A-D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(Vertical) and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1-6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(Horizontal).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Underground Water Reservoir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Pit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marked.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Reinforcement Schedule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1200 x 1200 mm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Ø12 mm @ 150 mm c/c (Bottom &amp; Top Bars).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1350 x 1350 mm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Ø16 mm @ 200 mm c/c (Bottom &amp; Top Bars).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F3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1500 x 1500 mm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Ø16 mm @ 175 mm c/c (Bottom &amp; Top Bars).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22"/>
          <p:cNvSpPr txBox="1"/>
          <p:nvPr/>
        </p:nvSpPr>
        <p:spPr>
          <a:xfrm>
            <a:off x="5436870" y="4377247"/>
            <a:ext cx="2659380" cy="37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Footing layout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3"/>
          <p:cNvSpPr txBox="1"/>
          <p:nvPr/>
        </p:nvSpPr>
        <p:spPr>
          <a:xfrm>
            <a:off x="0" y="-10160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Details Drawing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3" name="Google Shape;933;p2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5453" r="19510"/>
          <a:stretch/>
        </p:blipFill>
        <p:spPr>
          <a:xfrm>
            <a:off x="4118429" y="994045"/>
            <a:ext cx="4798785" cy="315541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934" name="Google Shape;934;p23"/>
          <p:cNvSpPr/>
          <p:nvPr/>
        </p:nvSpPr>
        <p:spPr>
          <a:xfrm>
            <a:off x="12908" y="431022"/>
            <a:ext cx="4008547" cy="4690176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23"/>
          <p:cNvSpPr txBox="1"/>
          <p:nvPr/>
        </p:nvSpPr>
        <p:spPr>
          <a:xfrm>
            <a:off x="120368" y="453262"/>
            <a:ext cx="3838055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consideration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23"/>
          <p:cNvSpPr txBox="1"/>
          <p:nvPr/>
        </p:nvSpPr>
        <p:spPr>
          <a:xfrm>
            <a:off x="24262" y="851816"/>
            <a:ext cx="4008547" cy="1167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 slab –  design for horizontal bending (slab action)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Side walls – design for vertical bending (cantilever action) and horizontal bending (slab action)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slab – design for horizontal bending (slab action)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23"/>
          <p:cNvSpPr txBox="1"/>
          <p:nvPr/>
        </p:nvSpPr>
        <p:spPr>
          <a:xfrm>
            <a:off x="109507" y="1953837"/>
            <a:ext cx="3838055" cy="873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conditions – 3 Types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8" name="Google Shape;938;p23"/>
          <p:cNvSpPr txBox="1"/>
          <p:nvPr/>
        </p:nvSpPr>
        <p:spPr>
          <a:xfrm>
            <a:off x="35123" y="2304531"/>
            <a:ext cx="4008547" cy="1167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tank is full with water and no soil Outside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tank is full with water and saturated soil Outside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tank is empty and saturated soil Outside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9" name="Google Shape;939;p23"/>
          <p:cNvSpPr txBox="1"/>
          <p:nvPr/>
        </p:nvSpPr>
        <p:spPr>
          <a:xfrm>
            <a:off x="79814" y="3106852"/>
            <a:ext cx="3561235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Design condition: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23"/>
          <p:cNvSpPr txBox="1"/>
          <p:nvPr/>
        </p:nvSpPr>
        <p:spPr>
          <a:xfrm>
            <a:off x="20429" y="3494858"/>
            <a:ext cx="4008547" cy="1167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Considering last condition as Critical one for design underground water reservoir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 and base slab- two way edge supported slab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1" name="Google Shape;941;p23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24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23"/>
          <p:cNvSpPr txBox="1"/>
          <p:nvPr/>
        </p:nvSpPr>
        <p:spPr>
          <a:xfrm>
            <a:off x="5308176" y="4129024"/>
            <a:ext cx="2659380" cy="37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Underground water reservoir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4"/>
          <p:cNvSpPr/>
          <p:nvPr/>
        </p:nvSpPr>
        <p:spPr>
          <a:xfrm>
            <a:off x="0" y="0"/>
            <a:ext cx="4021456" cy="5143500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24"/>
          <p:cNvSpPr txBox="1"/>
          <p:nvPr/>
        </p:nvSpPr>
        <p:spPr>
          <a:xfrm>
            <a:off x="0" y="-10160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Details Drawing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24"/>
          <p:cNvSpPr txBox="1"/>
          <p:nvPr/>
        </p:nvSpPr>
        <p:spPr>
          <a:xfrm>
            <a:off x="96317" y="1863985"/>
            <a:ext cx="3937000" cy="1167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Reservoir dimensions – 3.6 X 3 X 1.8 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Reinforcement required at the both sides of  side wall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Extended base slab act as anti-uplift shear key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direct tension steels needed in base slab and Side wall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24"/>
          <p:cNvSpPr txBox="1"/>
          <p:nvPr/>
        </p:nvSpPr>
        <p:spPr>
          <a:xfrm>
            <a:off x="96317" y="1405911"/>
            <a:ext cx="2064817" cy="458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Results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24"/>
          <p:cNvSpPr txBox="1"/>
          <p:nvPr/>
        </p:nvSpPr>
        <p:spPr>
          <a:xfrm>
            <a:off x="118265" y="3578421"/>
            <a:ext cx="2484015" cy="33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95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2" name="Google Shape;952;p24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25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3" name="Google Shape;95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55757" y="426636"/>
            <a:ext cx="4231404" cy="422714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24"/>
          <p:cNvSpPr txBox="1"/>
          <p:nvPr/>
        </p:nvSpPr>
        <p:spPr>
          <a:xfrm>
            <a:off x="5122546" y="4597166"/>
            <a:ext cx="2659380" cy="37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Underground water reservoir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5"/>
          <p:cNvSpPr txBox="1"/>
          <p:nvPr/>
        </p:nvSpPr>
        <p:spPr>
          <a:xfrm>
            <a:off x="0" y="-10160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		                            Details Drawing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25"/>
          <p:cNvSpPr/>
          <p:nvPr/>
        </p:nvSpPr>
        <p:spPr>
          <a:xfrm>
            <a:off x="1" y="426636"/>
            <a:ext cx="3196681" cy="4712802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25"/>
          <p:cNvSpPr txBox="1"/>
          <p:nvPr/>
        </p:nvSpPr>
        <p:spPr>
          <a:xfrm>
            <a:off x="-82033" y="938589"/>
            <a:ext cx="290026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Symmetrical 2D Pratt truss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❖"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Joints are connected through bolts and gusset plate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25"/>
          <p:cNvSpPr txBox="1"/>
          <p:nvPr/>
        </p:nvSpPr>
        <p:spPr>
          <a:xfrm>
            <a:off x="-54110" y="437375"/>
            <a:ext cx="39474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Roof Truss Joint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25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4" name="Google Shape;9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6682" y="508525"/>
            <a:ext cx="5947318" cy="2294148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25"/>
          <p:cNvSpPr/>
          <p:nvPr/>
        </p:nvSpPr>
        <p:spPr>
          <a:xfrm>
            <a:off x="-21073" y="1635720"/>
            <a:ext cx="5077658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Truss Dimensions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Span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14,940 mm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3,345 mm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Member Details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Members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 3x3x1/2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Purlins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 6x13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Joint Spacing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Horizontal: 2,490 mm (each segment)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Vertical: 1,115 mm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Sections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at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central joint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Diagonal bracing for structural stability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25"/>
          <p:cNvSpPr txBox="1"/>
          <p:nvPr/>
        </p:nvSpPr>
        <p:spPr>
          <a:xfrm>
            <a:off x="5267129" y="2216753"/>
            <a:ext cx="2659380" cy="37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Roof truss joint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7" name="Google Shape;967;p25"/>
          <p:cNvPicPr preferRelativeResize="0"/>
          <p:nvPr/>
        </p:nvPicPr>
        <p:blipFill rotWithShape="1">
          <a:blip r:embed="rId4">
            <a:alphaModFix/>
          </a:blip>
          <a:srcRect t="39" b="39"/>
          <a:stretch/>
        </p:blipFill>
        <p:spPr>
          <a:xfrm>
            <a:off x="4736917" y="2571751"/>
            <a:ext cx="3009465" cy="1746592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25"/>
          <p:cNvSpPr txBox="1"/>
          <p:nvPr/>
        </p:nvSpPr>
        <p:spPr>
          <a:xfrm>
            <a:off x="5062007" y="4318343"/>
            <a:ext cx="265938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Truss joint Connections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6"/>
          <p:cNvSpPr/>
          <p:nvPr/>
        </p:nvSpPr>
        <p:spPr>
          <a:xfrm>
            <a:off x="0" y="0"/>
            <a:ext cx="4133385" cy="5143500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26"/>
          <p:cNvSpPr txBox="1"/>
          <p:nvPr/>
        </p:nvSpPr>
        <p:spPr>
          <a:xfrm>
            <a:off x="0" y="-10160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Details Drawing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6"/>
          <p:cNvSpPr txBox="1"/>
          <p:nvPr/>
        </p:nvSpPr>
        <p:spPr>
          <a:xfrm>
            <a:off x="108586" y="1007505"/>
            <a:ext cx="4024800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Plumbing Layout Plan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Water Supply Stack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Ø 37 mm CPVC Pipe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Wastewater and Soil Stack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Ø 100 mm UPVC Pipe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Vent Pipe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Ø 50 mm UPVC Pipe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 Alignment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Vertical: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A-D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Horizontal: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Elements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b="1" dirty="0"/>
              <a:t>Pit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1500 x 1500 mm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Connections to Municipal Sewage Line.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6" name="Google Shape;97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3386" y="512956"/>
            <a:ext cx="4902030" cy="4193835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26"/>
          <p:cNvSpPr txBox="1"/>
          <p:nvPr/>
        </p:nvSpPr>
        <p:spPr>
          <a:xfrm>
            <a:off x="5602365" y="4628558"/>
            <a:ext cx="2659380" cy="37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Fig: Plumbing Layout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26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27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7"/>
          <p:cNvSpPr txBox="1"/>
          <p:nvPr/>
        </p:nvSpPr>
        <p:spPr>
          <a:xfrm>
            <a:off x="0" y="0"/>
            <a:ext cx="9144000" cy="436796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Bill Of Quantity(BOQ)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27"/>
          <p:cNvSpPr/>
          <p:nvPr/>
        </p:nvSpPr>
        <p:spPr>
          <a:xfrm>
            <a:off x="7909777" y="4925148"/>
            <a:ext cx="1234223" cy="2183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PAGE: 28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ABE349-7A31-E07B-934A-A1B8D4701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66" y="459130"/>
            <a:ext cx="4829793" cy="4684370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7460D57-9990-3805-28D4-11138A7A5F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2087826"/>
              </p:ext>
            </p:extLst>
          </p:nvPr>
        </p:nvGraphicFramePr>
        <p:xfrm>
          <a:off x="5412059" y="400701"/>
          <a:ext cx="3846241" cy="3747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03B3B98-035D-9DBD-6385-90777E91AA43}"/>
              </a:ext>
            </a:extLst>
          </p:cNvPr>
          <p:cNvSpPr/>
          <p:nvPr/>
        </p:nvSpPr>
        <p:spPr>
          <a:xfrm>
            <a:off x="582266" y="1434790"/>
            <a:ext cx="4829793" cy="193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8F63B6-90D2-B785-748D-E39CF104A626}"/>
              </a:ext>
            </a:extLst>
          </p:cNvPr>
          <p:cNvSpPr/>
          <p:nvPr/>
        </p:nvSpPr>
        <p:spPr>
          <a:xfrm>
            <a:off x="582266" y="4356410"/>
            <a:ext cx="4829793" cy="193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2FD7CE-E58F-F60A-CABC-11F674A1A47E}"/>
              </a:ext>
            </a:extLst>
          </p:cNvPr>
          <p:cNvSpPr/>
          <p:nvPr/>
        </p:nvSpPr>
        <p:spPr>
          <a:xfrm>
            <a:off x="582266" y="1628078"/>
            <a:ext cx="4829793" cy="193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918CD7-064F-7E42-9FC1-3EB1C9695B5D}"/>
              </a:ext>
            </a:extLst>
          </p:cNvPr>
          <p:cNvSpPr/>
          <p:nvPr/>
        </p:nvSpPr>
        <p:spPr>
          <a:xfrm>
            <a:off x="582266" y="4757854"/>
            <a:ext cx="3707236" cy="193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BA3B8D-DF66-C364-3B17-50499DF32E78}"/>
              </a:ext>
            </a:extLst>
          </p:cNvPr>
          <p:cNvSpPr txBox="1"/>
          <p:nvPr/>
        </p:nvSpPr>
        <p:spPr>
          <a:xfrm>
            <a:off x="5412058" y="4224696"/>
            <a:ext cx="3846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rgbClr val="00B050"/>
                </a:solidFill>
              </a:rPr>
              <a:t>Grand Total Cost:</a:t>
            </a:r>
            <a:r>
              <a:rPr lang="en-US" sz="1600" b="1" dirty="0">
                <a:solidFill>
                  <a:srgbClr val="00B050"/>
                </a:solidFill>
              </a:rPr>
              <a:t>  </a:t>
            </a:r>
            <a:r>
              <a:rPr lang="en-US" sz="1600" b="1" dirty="0">
                <a:solidFill>
                  <a:srgbClr val="002060"/>
                </a:solidFill>
              </a:rPr>
              <a:t>4,09,44,539 BDT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Four Crore Nine Lac Forty Four Thousand 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Five Hundred Thirty Nine Taka</a:t>
            </a:r>
          </a:p>
        </p:txBody>
      </p:sp>
    </p:spTree>
    <p:extLst>
      <p:ext uri="{BB962C8B-B14F-4D97-AF65-F5344CB8AC3E}">
        <p14:creationId xmlns:p14="http://schemas.microsoft.com/office/powerpoint/2010/main" val="2165122144"/>
      </p:ext>
    </p:extLst>
  </p:cSld>
  <p:clrMapOvr>
    <a:masterClrMapping/>
  </p:clrMapOvr>
  <p:transition spd="slow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8"/>
          <p:cNvSpPr/>
          <p:nvPr/>
        </p:nvSpPr>
        <p:spPr>
          <a:xfrm>
            <a:off x="0" y="0"/>
            <a:ext cx="9234714" cy="5143500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28"/>
          <p:cNvSpPr txBox="1"/>
          <p:nvPr/>
        </p:nvSpPr>
        <p:spPr>
          <a:xfrm>
            <a:off x="0" y="-39474"/>
            <a:ext cx="9144000" cy="453324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2112"/>
              <a:buFont typeface="Fira Sans Extra Condensed SemiBold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Implementation Timeline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1" name="Google Shape;100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578" y="674036"/>
            <a:ext cx="3859022" cy="189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8402" y="602159"/>
            <a:ext cx="3246646" cy="20673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28"/>
          <p:cNvSpPr txBox="1"/>
          <p:nvPr/>
        </p:nvSpPr>
        <p:spPr>
          <a:xfrm>
            <a:off x="187960" y="2795796"/>
            <a:ext cx="4617720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Pre-Construction Phase (Weeks 0-22)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Activities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Initiation: 3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Subsoil Investigation: 2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Reconnaissance Survey: 3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Land &amp; Topographic Surveys: 1-2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Impact Analysis: 4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Feasibility Report Preparation: 4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Preliminary &amp; Detailed Design: 4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BOQ Preparation: 2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Tendering: 4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28"/>
          <p:cNvSpPr txBox="1"/>
          <p:nvPr/>
        </p:nvSpPr>
        <p:spPr>
          <a:xfrm>
            <a:off x="4292865" y="2720252"/>
            <a:ext cx="461772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Construction Phase (</a:t>
            </a: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Weeks 28-50)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Activities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Site Preparation: 3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Excavation and Earthwork: 6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Foundation Work: 6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Pit Construction: 2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Underground Water Tank: 4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Septic Tank: 4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Columns, Grade Beams, Lintel, Beams: 20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Masonry Works: 2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Steel Structure Works: 2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Interior Design and Finish: 2 weeks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28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29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C6E69403-B42D-FD0E-225D-A15516292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" y="0"/>
            <a:ext cx="9132337" cy="5143500"/>
          </a:xfrm>
          <a:prstGeom prst="rect">
            <a:avLst/>
          </a:prstGeom>
        </p:spPr>
      </p:pic>
      <p:sp>
        <p:nvSpPr>
          <p:cNvPr id="1011" name="Google Shape;1011;p30"/>
          <p:cNvSpPr/>
          <p:nvPr/>
        </p:nvSpPr>
        <p:spPr>
          <a:xfrm>
            <a:off x="8046720" y="4925148"/>
            <a:ext cx="1097400" cy="207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29"/>
          <p:cNvSpPr/>
          <p:nvPr/>
        </p:nvSpPr>
        <p:spPr>
          <a:xfrm>
            <a:off x="0" y="468351"/>
            <a:ext cx="9234714" cy="5143500"/>
          </a:xfrm>
          <a:prstGeom prst="rect">
            <a:avLst/>
          </a:prstGeom>
          <a:solidFill>
            <a:srgbClr val="D8E8F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29"/>
          <p:cNvSpPr txBox="1"/>
          <p:nvPr/>
        </p:nvSpPr>
        <p:spPr>
          <a:xfrm>
            <a:off x="0" y="-39474"/>
            <a:ext cx="9144000" cy="453324"/>
          </a:xfrm>
          <a:prstGeom prst="rect">
            <a:avLst/>
          </a:prstGeom>
          <a:solidFill>
            <a:srgbClr val="192E40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2112"/>
              <a:buFont typeface="Fira Sans Extra Condensed SemiBold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29"/>
          <p:cNvSpPr txBox="1"/>
          <p:nvPr/>
        </p:nvSpPr>
        <p:spPr>
          <a:xfrm>
            <a:off x="797745" y="909777"/>
            <a:ext cx="7929941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Modernization and Expansion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+mj-lt"/>
              <a:buAutoNum type="alphaLcParenR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Expansion of the existing STS with modern container trucks and advanced waste compaction techniques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and Social Benefits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+mj-lt"/>
              <a:buAutoNum type="alphaLcParenR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Adherence to Environmental Conservation Rules 2023 to minimize impact and improve residents' quality of life.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Economic Viability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+mj-lt"/>
              <a:buAutoNum type="alphaLcParenR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Despite initial financial challenges, the project demonstrates long-term benefits for the environment, public health, and society.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Innovative Solutions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+mj-lt"/>
              <a:buAutoNum type="alphaLcParenR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of advanced technologies, including compartmentalized tricycles and steel frame structures, setting benchmarks for urban waste management.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29"/>
          <p:cNvSpPr/>
          <p:nvPr/>
        </p:nvSpPr>
        <p:spPr>
          <a:xfrm>
            <a:off x="8046720" y="4925148"/>
            <a:ext cx="1097280" cy="20685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31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E8F1"/>
        </a:solidFill>
        <a:effectLst/>
      </p:bgPr>
    </p:bg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2056c7e390_2_38"/>
          <p:cNvSpPr txBox="1">
            <a:spLocks noGrp="1"/>
          </p:cNvSpPr>
          <p:nvPr>
            <p:ph type="title"/>
          </p:nvPr>
        </p:nvSpPr>
        <p:spPr>
          <a:xfrm>
            <a:off x="713249" y="1454779"/>
            <a:ext cx="7723800" cy="18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THANK YOU!</a:t>
            </a:r>
            <a:br>
              <a:rPr lang="en-US"/>
            </a:br>
            <a:r>
              <a:rPr lang="en-US"/>
              <a:t>ANY QUESTIONS?</a:t>
            </a:r>
            <a:endParaRPr/>
          </a:p>
        </p:txBody>
      </p:sp>
      <p:sp>
        <p:nvSpPr>
          <p:cNvPr id="1025" name="Google Shape;1025;g32056c7e390_2_38"/>
          <p:cNvSpPr txBox="1"/>
          <p:nvPr/>
        </p:nvSpPr>
        <p:spPr>
          <a:xfrm>
            <a:off x="1967710" y="2571750"/>
            <a:ext cx="5208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</a:pPr>
            <a:endParaRPr sz="3200" b="0" i="0" u="none" strike="noStrike" cap="none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26" name="Google Shape;1026;g32056c7e390_2_38"/>
          <p:cNvSpPr/>
          <p:nvPr/>
        </p:nvSpPr>
        <p:spPr>
          <a:xfrm>
            <a:off x="8046720" y="4925148"/>
            <a:ext cx="1097400" cy="207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|| PAGE 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usiness Cost Analysis Infographics by Slidesgo">
  <a:themeElements>
    <a:clrScheme name="Simple Light">
      <a:dk1>
        <a:srgbClr val="261E17"/>
      </a:dk1>
      <a:lt1>
        <a:srgbClr val="F2EDE4"/>
      </a:lt1>
      <a:dk2>
        <a:srgbClr val="BFAD8A"/>
      </a:dk2>
      <a:lt2>
        <a:srgbClr val="8C7B23"/>
      </a:lt2>
      <a:accent1>
        <a:srgbClr val="15400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1E1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2286</Words>
  <Application>Microsoft Office PowerPoint</Application>
  <PresentationFormat>On-screen Show (16:9)</PresentationFormat>
  <Paragraphs>493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51" baseType="lpstr">
      <vt:lpstr>Josefin Sans</vt:lpstr>
      <vt:lpstr>Open Sans</vt:lpstr>
      <vt:lpstr>Manrope SemiBold</vt:lpstr>
      <vt:lpstr>Manrope</vt:lpstr>
      <vt:lpstr>Roboto</vt:lpstr>
      <vt:lpstr>Century Gothic</vt:lpstr>
      <vt:lpstr>Encode Sans Semi Condensed</vt:lpstr>
      <vt:lpstr>Noto Sans Symbols</vt:lpstr>
      <vt:lpstr>Arial</vt:lpstr>
      <vt:lpstr>Quattrocento Sans</vt:lpstr>
      <vt:lpstr>Twentieth Century</vt:lpstr>
      <vt:lpstr>Times New Roman</vt:lpstr>
      <vt:lpstr>Montserrat</vt:lpstr>
      <vt:lpstr>Calibri</vt:lpstr>
      <vt:lpstr>Fira Sans Extra Condensed SemiBold</vt:lpstr>
      <vt:lpstr>Manrope Medium</vt:lpstr>
      <vt:lpstr>Inter</vt:lpstr>
      <vt:lpstr>Office Theme</vt:lpstr>
      <vt:lpstr>Business Cost Analysis Infographics by Slidesgo</vt:lpstr>
      <vt:lpstr>PowerPoint Presentation</vt:lpstr>
      <vt:lpstr>Background and Vision of the project</vt:lpstr>
      <vt:lpstr>Project Description &amp; Location</vt:lpstr>
      <vt:lpstr>PowerPoint Presentation</vt:lpstr>
      <vt:lpstr>Feasibility Analysis</vt:lpstr>
      <vt:lpstr>Feasibility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1904072 - Shahriare Mahmud Sakib</cp:lastModifiedBy>
  <cp:revision>37</cp:revision>
  <dcterms:modified xsi:type="dcterms:W3CDTF">2026-08-08T05:57:34Z</dcterms:modified>
</cp:coreProperties>
</file>